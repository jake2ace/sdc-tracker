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4171C"/>
                </a:solidFill>
                <a:latin typeface="Calibri"/>
              </a:rPr>
              <a:t>Extraction accuracy (% exact, n = 40 each)</a:t>
            </a:r>
          </a:p>
        </c:rich>
      </c:tx>
      <c:layout/>
      <c:overlay val="0"/>
    </c:title>
    <c:autoTitleDeleted val="0"/>
    <c:plotArea>
      <c:barChart>
        <c:barDir val="bar"/>
        <c:grouping val="clustered"/>
        <c:ser>
          <c:idx val="0"/>
          <c:order val="0"/>
          <c:tx>
            <c:strRef>
              <c:f>Sheet1!$B$1</c:f>
              <c:strCache>
                <c:ptCount val="1"/>
                <c:pt idx="0">
                  <c:v>Exact (%)</c:v>
                </c:pt>
              </c:strCache>
            </c:strRef>
          </c:tx>
          <c:dPt>
            <c:idx val="0"/>
            <c:spPr>
              <a:solidFill>
                <a:srgbClr val="1B7A50"/>
              </a:solidFill>
            </c:spPr>
          </c:dPt>
          <c:dPt>
            <c:idx val="1"/>
            <c:spPr>
              <a:solidFill>
                <a:srgbClr val="1B7A50"/>
              </a:solidFill>
            </c:spPr>
          </c:dPt>
          <c:dPt>
            <c:idx val="2"/>
            <c:spPr>
              <a:solidFill>
                <a:srgbClr val="1B7A50"/>
              </a:solidFill>
            </c:spPr>
          </c:dPt>
          <c:dPt>
            <c:idx val="3"/>
            <c:spPr>
              <a:solidFill>
                <a:srgbClr val="B85C14"/>
              </a:solidFill>
            </c:spPr>
          </c:dPt>
          <c:cat>
            <c:strRef>
              <c:f>Sheet1!$A$2:$A$5</c:f>
              <c:strCache>
                <c:ptCount val="4"/>
                <c:pt idx="0">
                  <c:v>Receipt amount</c:v>
                </c:pt>
                <c:pt idx="1">
                  <c:v>Transfer time</c:v>
                </c:pt>
                <c:pt idx="2">
                  <c:v>Reply intent</c:v>
                </c:pt>
                <c:pt idx="3">
                  <c:v>Receipt reference</c:v>
                </c:pt>
              </c:strCache>
            </c:strRef>
          </c:cat>
          <c:val>
            <c:numRef>
              <c:f>Sheet1!$B$2:$B$5</c:f>
              <c:numCache>
                <c:formatCode>General</c:formatCode>
                <c:ptCount val="4"/>
                <c:pt idx="0">
                  <c:v>100</c:v>
                </c:pt>
                <c:pt idx="1">
                  <c:v>100</c:v>
                </c:pt>
                <c:pt idx="2">
                  <c:v>97.5</c:v>
                </c:pt>
                <c:pt idx="3">
                  <c:v>87.5</c:v>
                </c:pt>
              </c:numCache>
            </c:numRef>
          </c:val>
        </c:ser>
        <c:dLbls>
          <c:numFmt formatCode="0.0&quot;%&quot;" sourceLinked="0"/>
          <c:txPr>
            <a:bodyPr/>
            <a:lstStyle/>
            <a:p>
              <a:pPr>
                <a:defRPr sz="1300" b="1">
                  <a:solidFill>
                    <a:srgbClr val="14171C"/>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300">
                <a:solidFill>
                  <a:srgbClr val="14171C"/>
                </a:solidFill>
                <a:latin typeface="Calibri"/>
              </a:defRPr>
            </a:pPr>
          </a:p>
        </c:txPr>
        <c:crossAx val="-2113994440"/>
        <c:crosses val="autoZero"/>
        <c:auto val="1"/>
        <c:lblAlgn val="ctr"/>
        <c:lblOffset val="100"/>
        <c:noMultiLvlLbl val="0"/>
      </c:catAx>
      <c:valAx>
        <c:axId val="-2113994440"/>
        <c:scaling>
          <c:max val="118.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Presenter: ____</a:t>
            </a:r>
          </a:p>
          <a:p>
            <a:r>
              <a:t>We are team Lets go. This is Milestone2Cash Proof-to-Cash, for small service businesses that bill by project milestone and get paid by bank transfer — usually with nothing but a WhatsApp message as proof.</a:t>
            </a:r>
          </a:p>
          <a:p>
            <a:r>
              <a:t>Our promise: know what is paid, and know what is still due.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[0:15–0:45]</a:t>
            </a:r>
          </a:p>
          <a:p>
            <a:r>
              <a:t>Malaysian SMEs wait about sixty-four days to be paid, longer than big companies. Advertising agencies say thirty-day terms have stretched to ninety or a hundred and twenty days. Bank Negara names delayed client payments among the causes of stress in some micro and small firms.</a:t>
            </a:r>
          </a:p>
          <a:p>
            <a:r>
              <a:t>For a small studio, getting paid is manual: invoice each milestone, chase every client on WhatsApp, and check the bank whenever someone says “dah bayar”.</a:t>
            </a:r>
          </a:p>
          <a:p>
            <a:r>
              <a:t>Sources:</a:t>
            </a:r>
          </a:p>
          <a:p>
            <a:r>
              <a:t>- Experian Malaysia, State of Credit 2025: https://www.experian.com.my/2025/05/21/experian-malaysias-state-of-credit-2025-reveals-sme-resilience-but-cash-flow-strains-persist/</a:t>
            </a:r>
          </a:p>
          <a:p>
            <a:r>
              <a:t>- 4As Malaysia, 11 May 2026: https://aaaa.org.my/4as-sounds-alarm-on-unfair-payment-terms/</a:t>
            </a:r>
          </a:p>
          <a:p>
            <a:r>
              <a:t>- Bank Negara FSR 2H 2025 via Malay Mail, 31 Mar 2026: https://www.malaymail.com/news/money/2026/03/31/bnm-reports-stronger-credit-quality-for-business-sector-in-second-half-of-2025/214528</a:t>
            </a:r>
          </a:p>
          <a:p>
            <a:r>
              <a:t>- PayNet, 8.44 billion transactions in 2025: https://paynet.my/about-us/media-centre/press-release/8-44-billion-transactions-processed-in-2025-as-digital-payments-become-malaysians-preferred-way-to-pay.html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[0:45–1:10]</a:t>
            </a:r>
          </a:p>
          <a:p>
            <a:r>
              <a:t>Here is the moment we built for. An RM18,000 invoice is overdue. The client sends “dah bayar boss, RM9,000” with a screenshot.</a:t>
            </a:r>
          </a:p>
          <a:p>
            <a:r>
              <a:t>The bank shows nine thousand arrived, so nine thousand is still due. Two easy mistakes: mark the invoice paid and stop chasing the rest, or treat a promise to pay later as money already received.</a:t>
            </a:r>
          </a:p>
          <a:p>
            <a:r>
              <a:t>And screenshots can be fake: a Port Dickson trader lost seven hundred and eighty ringgit of goods to a fake transfer receipt.</a:t>
            </a:r>
          </a:p>
          <a:p>
            <a:r>
              <a:t>Source: https://www.thevibes.com/articles/news/112870/trader-loses-rm780-in-online-payment-receipt-scam-at-local-supermarket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[1:10–1:25]</a:t>
            </a:r>
          </a:p>
          <a:p>
            <a:r>
              <a:t>Good tools exist. QuickBooks predicts when customers will pay; Chaser uses AI to read debtor email replies. But they work from bank feeds and email.</a:t>
            </a:r>
          </a:p>
          <a:p>
            <a:r>
              <a:t>Our users' evidence is a WhatsApp message and a screenshot. Milestone2Cash starts exactly there: it reads the claim, checks it against the bank, and keeps the rest of the invoice in view.</a:t>
            </a:r>
          </a:p>
          <a:p>
            <a:r>
              <a:t>Sources: https://quickbooks.intuit.com/learn-support/en-global/help-article/money-movement/cash-flow-planner/L8kvVEdNC_ROW_en · https://www.chaserhq.com/features/ai-email-generator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[1:25–1:45]</a:t>
            </a:r>
          </a:p>
          <a:p>
            <a:r>
              <a:t>Milestone2Cash connects four steps. A finished milestone becomes an invoice draft that the Owner approves. Finance sends a reminder in the client's language — sending is simulated in our demo.</a:t>
            </a:r>
          </a:p>
          <a:p>
            <a:r>
              <a:t>When the client replies or sends a screenshot, local OCR and AI read it. Rules check it against bank credits, and Finance approves the payment.</a:t>
            </a:r>
          </a:p>
          <a:p>
            <a:r>
              <a:t>AI helps read. Rules check. Your team decides.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[1:45–2:00]</a:t>
            </a:r>
          </a:p>
          <a:p>
            <a:r>
              <a:t>What does the business get? First, safer decisions: a screenshot or a promise is never treated as money received; it is checked against the bank and approved by Finance, and everything is logged.</a:t>
            </a:r>
          </a:p>
          <a:p>
            <a:r>
              <a:t>Second, less manual work: the app reads the screenshot, imports the bank CSV and matches it, and drafts reminders. We have not measured the time saved yet — that is the first thing our pilot will measure.</a:t>
            </a:r>
          </a:p>
          <a:p>
            <a:r>
              <a:t>Third, clearer cash: received, still due and expected are kept separate, and late-payment scenarios show up in the forecast.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[2:00–2:20]</a:t>
            </a:r>
          </a:p>
          <a:p>
            <a:r>
              <a:t>This is the flow in four screens. The claim arrives and starts a review — it is not proof. OCR and AI read the amount and reference, and Finance can correct them.</a:t>
            </a:r>
          </a:p>
          <a:p>
            <a:r>
              <a:t>Rules compare the claim with the imported bank credit: nine thousand claimed, nine thousand received — but a person still approves.</a:t>
            </a:r>
          </a:p>
          <a:p>
            <a:r>
              <a:t>After approval only nine thousand is recorded; the other nine thousand stays due and every action is logged.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[2:20–3:50] SWITCH TO THE LIVE APP (about 90 seconds).</a:t>
            </a:r>
          </a:p>
          <a:p>
            <a:r>
              <a:t>1. As Project manager, complete the milestone; as Owner, approve the invoice draft.</a:t>
            </a:r>
          </a:p>
          <a:p>
            <a:r>
              <a:t>2. As Finance, open the overdue invoice, draft the reminder, confirm the simulated send.</a:t>
            </a:r>
          </a:p>
          <a:p>
            <a:r>
              <a:t>3. Payment check: upload data/demo/receipts/lumen-partial.png, show the original next to the extracted fields.</a:t>
            </a:r>
          </a:p>
          <a:p>
            <a:r>
              <a:t>4. Run the bank check and read the verdict. Tick the review and record the partial payment: RM9,000 paid, RM9,000 still due.</a:t>
            </a:r>
          </a:p>
          <a:p>
            <a:r>
              <a:t>Say: “A screenshot alone cannot record a payment, and a retry cannot use the same bank credit twice.”</a:t>
            </a:r>
          </a:p>
          <a:p>
            <a:r>
              <a:t>If the AI is slow or unavailable, use the labelled manual fallback and say so.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[3:50–4:20] (Still in the app, or on this slide as backup.)</a:t>
            </a:r>
          </a:p>
          <a:p>
            <a:r>
              <a:t>The client now promises the remaining nine thousand on the twenty-eighth. AI reads the date; Finance confirms it.</a:t>
            </a:r>
          </a:p>
          <a:p>
            <a:r>
              <a:t>The forecast places the remainder on the twenty-eighth; switching to seven days late moves it to the fourth of November.</a:t>
            </a:r>
          </a:p>
          <a:p>
            <a:r>
              <a:t>The nine thousand already approved stays actual cash and is never counted again. This is a scenario, not a guarantee.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[4:20–4:50]</a:t>
            </a:r>
          </a:p>
          <a:p>
            <a:r>
              <a:t>Under the hood: a React interface calls seventeen Node.js operations backed by SQLite. Tesseract reads screenshots on our own server; DeepSeek only receives redacted text for permitted tasks, and the key stays server-side.</a:t>
            </a:r>
          </a:p>
          <a:p>
            <a:r>
              <a:t>The decision itself is deterministic: rules compare amount, reference, time and duplicates, and Finance approval is the gate before anything is recorded.</a:t>
            </a:r>
          </a:p>
          <a:p>
            <a:r>
              <a:t>Retries cannot use the same bank credit twice, and if the AI is unavailable the app falls back to templates and manual entry.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[4:50–5:25]</a:t>
            </a:r>
          </a:p>
          <a:p>
            <a:r>
              <a:t>We tested with real OCR and DeepSeek calls on forty synthetic screenshots in four layouts, including cropped, noisy and dark images, and forty replies in English, Chinese and Malay.</a:t>
            </a:r>
          </a:p>
          <a:p>
            <a:r>
              <a:t>Amounts and transfer times were exact in all forty. References were exact in thirty-five — the five misses were letter-O-versus-zero confusions, and we kept them in the score. Reply intent was right in thirty-nine of forty.</a:t>
            </a:r>
          </a:p>
          <a:p>
            <a:r>
              <a:t>All eleven low-confidence replies went to a person. The matcher passed all thirty frozen cases with zero unsafe approvals, and forty daily forecast checks matched hand calculations. Sixty-nine automated checks pass.</a:t>
            </a:r>
          </a:p>
          <a:p>
            <a:r>
              <a:t>These are synthetic results; they do not prove real-bank accuracy, and we have not yet measured staff time savings.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[5:25–5:50]</a:t>
            </a:r>
          </a:p>
          <a:p>
            <a:r>
              <a:t>Milestone2Cash is designed as an Orbyte module: milestones in Orbyte Work trigger it, and its results belong in the Connect areas Orbyte lists for payments, collections and accounting, using Orbyte's shared roles, approvals and audit trail.</a:t>
            </a:r>
          </a:p>
          <a:p>
            <a:r>
              <a:t>It is reusable: the demo runs two companies with separate data, in English, Chinese and Malay.</a:t>
            </a:r>
          </a:p>
          <a:p>
            <a:r>
              <a:t>We propose usage-based pricing per verified payment check, like Orbyte's credit wallet. We align with SDG 8.2 and 8.3 — proposed, not yet measured.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[5:50–6:10]</a:t>
            </a:r>
          </a:p>
          <a:p>
            <a:r>
              <a:t>To be clear about scope: the full workflow runs on Replit today. Data is synthetic, roles are demo roles, sending is simulated, there is no live bank, WhatsApp or Orbyte connection yet, and redeploying resets the demo data. It is a working prototype.</a:t>
            </a:r>
          </a:p>
          <a:p>
            <a:r>
              <a:t>Next, we will pilot with a consenting studio and measure what matters: minutes per payment check, manual versus tool; the share of payment claims checked against the bank before recording; and better reference accuracy on a held-out 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[6:10–6:25]</a:t>
            </a:r>
          </a:p>
          <a:p>
            <a:r>
              <a:t>A screenshot is a claim. Milestone2Cash turns it into a verified payment, and keeps what is still due in sight.</a:t>
            </a:r>
          </a:p>
          <a:p>
            <a:r>
              <a:t>The live demo and code are linked here. Thank you from team Lets go.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milestone-2-cash-proof-to-cash.replit.app/" TargetMode="External"/><Relationship Id="rId4" Type="http://schemas.openxmlformats.org/officeDocument/2006/relationships/hyperlink" Target="https://github.com/jake2ace/SDC-Tracker" TargetMode="External"/><Relationship Id="rId5" Type="http://schemas.openxmlformats.org/officeDocument/2006/relationships/hyperlink" Target="https://www.youtube.com/watch?v=pholjV_8vB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Rounded Rectangle 1"/>
          <p:cNvSpPr/>
          <p:nvPr/>
        </p:nvSpPr>
        <p:spPr>
          <a:xfrm>
            <a:off x="548640" y="548640"/>
            <a:ext cx="4937760" cy="292608"/>
          </a:xfrm>
          <a:prstGeom prst="roundRect">
            <a:avLst>
              <a:gd name="adj" fmla="val 50000"/>
            </a:avLst>
          </a:prstGeom>
          <a:solidFill>
            <a:srgbClr val="8FD6B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b="1">
                <a:solidFill>
                  <a:srgbClr val="14171C"/>
                </a:solidFill>
                <a:latin typeface="Calibri"/>
              </a:rPr>
              <a:t>SDC HACKATHON 2026  ·  DOMAIN 2  ·  ORBYTE SMART SME CHALLENGE</a:t>
            </a:r>
          </a:p>
        </p:txBody>
      </p:sp>
      <p:sp>
        <p:nvSpPr>
          <p:cNvPr id="3" name="Title"/>
          <p:cNvSpPr txBox="1"/>
          <p:nvPr/>
        </p:nvSpPr>
        <p:spPr>
          <a:xfrm>
            <a:off x="548640" y="1234440"/>
            <a:ext cx="6035040" cy="914400"/>
          </a:xfrm>
          <a:prstGeom prst="rect">
            <a:avLst/>
          </a:prstGeom>
          <a:noFill/>
        </p:spPr>
        <p:txBody>
          <a:bodyPr wrap="square" lIns="0" rIns="0" tIns="0" bIns="0" anchor="t">
            <a:spAutoFit/>
          </a:bodyPr>
          <a:lstStyle/>
          <a:p>
            <a:pPr algn="l"/>
            <a:r>
              <a:rPr sz="5600" b="1" i="0">
                <a:solidFill>
                  <a:srgbClr val="FFFFFF"/>
                </a:solidFill>
                <a:latin typeface="Cambria"/>
              </a:rPr>
              <a:t>Milestone2Cash</a:t>
            </a:r>
          </a:p>
        </p:txBody>
      </p:sp>
      <p:sp>
        <p:nvSpPr>
          <p:cNvPr id="4" name="TextBox 3"/>
          <p:cNvSpPr txBox="1"/>
          <p:nvPr/>
        </p:nvSpPr>
        <p:spPr>
          <a:xfrm>
            <a:off x="548640" y="2148840"/>
            <a:ext cx="6035040" cy="548640"/>
          </a:xfrm>
          <a:prstGeom prst="rect">
            <a:avLst/>
          </a:prstGeom>
          <a:noFill/>
        </p:spPr>
        <p:txBody>
          <a:bodyPr wrap="square" lIns="0" rIns="0" tIns="0" bIns="0" anchor="t">
            <a:spAutoFit/>
          </a:bodyPr>
          <a:lstStyle/>
          <a:p>
            <a:pPr algn="l"/>
            <a:r>
              <a:rPr sz="3000" b="0" i="0">
                <a:solidFill>
                  <a:srgbClr val="8FD6B0"/>
                </a:solidFill>
                <a:latin typeface="Cambria"/>
              </a:rPr>
              <a:t>Proof-to-Cash</a:t>
            </a:r>
          </a:p>
        </p:txBody>
      </p:sp>
      <p:sp>
        <p:nvSpPr>
          <p:cNvPr id="5" name="TextBox 4"/>
          <p:cNvSpPr txBox="1"/>
          <p:nvPr/>
        </p:nvSpPr>
        <p:spPr>
          <a:xfrm>
            <a:off x="548640" y="2971800"/>
            <a:ext cx="5669280" cy="914400"/>
          </a:xfrm>
          <a:prstGeom prst="rect">
            <a:avLst/>
          </a:prstGeom>
          <a:noFill/>
        </p:spPr>
        <p:txBody>
          <a:bodyPr wrap="square" lIns="0" rIns="0" tIns="0" bIns="0" anchor="t">
            <a:spAutoFit/>
          </a:bodyPr>
          <a:lstStyle/>
          <a:p>
            <a:pPr algn="l"/>
            <a:r>
              <a:rPr sz="2400" b="0" i="0">
                <a:solidFill>
                  <a:srgbClr val="FFFFFF"/>
                </a:solidFill>
                <a:latin typeface="Calibri"/>
              </a:rPr>
              <a:t>Know what is </a:t>
            </a:r>
            <a:r>
              <a:rPr sz="2400" b="1" i="0">
                <a:solidFill>
                  <a:srgbClr val="8FD6B0"/>
                </a:solidFill>
                <a:latin typeface="Calibri"/>
              </a:rPr>
              <a:t>paid</a:t>
            </a:r>
            <a:r>
              <a:rPr sz="2400" b="0" i="0">
                <a:solidFill>
                  <a:srgbClr val="FFFFFF"/>
                </a:solidFill>
                <a:latin typeface="Calibri"/>
              </a:rPr>
              <a:t>.</a:t>
            </a:r>
          </a:p>
          <a:p>
            <a:pPr algn="l"/>
            <a:r>
              <a:rPr sz="2400" b="0" i="0">
                <a:solidFill>
                  <a:srgbClr val="FFFFFF"/>
                </a:solidFill>
                <a:latin typeface="Calibri"/>
              </a:rPr>
              <a:t>Know what is </a:t>
            </a:r>
            <a:r>
              <a:rPr sz="2400" b="1" i="0">
                <a:solidFill>
                  <a:srgbClr val="F2B273"/>
                </a:solidFill>
                <a:latin typeface="Calibri"/>
              </a:rPr>
              <a:t>still due</a:t>
            </a:r>
            <a:r>
              <a:rPr sz="2400" b="0" i="0">
                <a:solidFill>
                  <a:srgbClr val="FFFFFF"/>
                </a:solidFill>
                <a:latin typeface="Calibri"/>
              </a:rPr>
              <a:t>.</a:t>
            </a:r>
          </a:p>
        </p:txBody>
      </p:sp>
      <p:sp>
        <p:nvSpPr>
          <p:cNvPr id="6" name="TextBox 5"/>
          <p:cNvSpPr txBox="1"/>
          <p:nvPr/>
        </p:nvSpPr>
        <p:spPr>
          <a:xfrm>
            <a:off x="548640" y="4069080"/>
            <a:ext cx="5486400" cy="822960"/>
          </a:xfrm>
          <a:prstGeom prst="rect">
            <a:avLst/>
          </a:prstGeom>
          <a:noFill/>
        </p:spPr>
        <p:txBody>
          <a:bodyPr wrap="square" lIns="0" rIns="0" tIns="0" bIns="0" anchor="t">
            <a:spAutoFit/>
          </a:bodyPr>
          <a:lstStyle/>
          <a:p>
            <a:pPr algn="l"/>
            <a:r>
              <a:rPr sz="1600" b="0" i="0">
                <a:solidFill>
                  <a:srgbClr val="C6CBD1"/>
                </a:solidFill>
                <a:latin typeface="Calibri"/>
              </a:rPr>
              <a:t>We check a customer's “dah bayar” claim against the bank before it counts, then keep the rest of the invoice in view.</a:t>
            </a:r>
          </a:p>
        </p:txBody>
      </p:sp>
      <p:cxnSp>
        <p:nvCxnSpPr>
          <p:cNvPr id="7" name="Connector 6"/>
          <p:cNvCxnSpPr/>
          <p:nvPr/>
        </p:nvCxnSpPr>
        <p:spPr>
          <a:xfrm>
            <a:off x="548640" y="5074920"/>
            <a:ext cx="5486400" cy="0"/>
          </a:xfrm>
          <a:prstGeom prst="line">
            <a:avLst/>
          </a:prstGeom>
          <a:ln w="12700">
            <a:solidFill>
              <a:srgbClr val="3A3F4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5257800"/>
            <a:ext cx="5852160" cy="914400"/>
          </a:xfrm>
          <a:prstGeom prst="rect">
            <a:avLst/>
          </a:prstGeom>
          <a:noFill/>
        </p:spPr>
        <p:txBody>
          <a:bodyPr wrap="square" lIns="0" rIns="0" tIns="0" bIns="0" anchor="t">
            <a:spAutoFit/>
          </a:bodyPr>
          <a:lstStyle/>
          <a:p>
            <a:pPr algn="l">
              <a:spcAft>
                <a:spcPts val="200"/>
              </a:spcAft>
            </a:pPr>
            <a:r>
              <a:rPr sz="1400" b="1" i="0">
                <a:solidFill>
                  <a:srgbClr val="FFFFFF"/>
                </a:solidFill>
                <a:latin typeface="Calibri"/>
              </a:rPr>
              <a:t>Team Lets go</a:t>
            </a:r>
          </a:p>
          <a:p>
            <a:pPr algn="l">
              <a:spcAft>
                <a:spcPts val="200"/>
              </a:spcAft>
            </a:pPr>
            <a:r>
              <a:rPr sz="1200" b="0" i="0">
                <a:solidFill>
                  <a:srgbClr val="C6CBD1"/>
                </a:solidFill>
                <a:latin typeface="Calibri"/>
              </a:rPr>
              <a:t>Jiazhong Yang (team leader) · Low Li Xin · Jieheng Li · Lingchen Wu</a:t>
            </a:r>
          </a:p>
          <a:p>
            <a:pPr algn="l">
              <a:spcAft>
                <a:spcPts val="200"/>
              </a:spcAft>
            </a:pPr>
            <a:r>
              <a:rPr sz="1200" b="0" i="0">
                <a:solidFill>
                  <a:srgbClr val="C6CBD1"/>
                </a:solidFill>
                <a:latin typeface="Calibri"/>
              </a:rPr>
              <a:t>Monash University Malaysia · Universiti Malaya</a:t>
            </a:r>
          </a:p>
        </p:txBody>
      </p:sp>
      <p:sp>
        <p:nvSpPr>
          <p:cNvPr id="9" name="Live app hero frame"/>
          <p:cNvSpPr/>
          <p:nvPr/>
        </p:nvSpPr>
        <p:spPr>
          <a:xfrm>
            <a:off x="6812280" y="1234440"/>
            <a:ext cx="4846320" cy="3621532"/>
          </a:xfrm>
          <a:prstGeom prst="roundRect">
            <a:avLst>
              <a:gd name="adj" fmla="val 2500"/>
            </a:avLst>
          </a:prstGeom>
          <a:solidFill>
            <a:srgbClr val="FFFFFF"/>
          </a:solidFill>
          <a:ln w="12700">
            <a:solidFill>
              <a:srgbClr val="3A3F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21424" y="1243584"/>
            <a:ext cx="4828032" cy="246888"/>
          </a:xfrm>
          <a:prstGeom prst="roundRect">
            <a:avLst>
              <a:gd name="adj" fmla="val 20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958584" y="1316736"/>
            <a:ext cx="91440" cy="91440"/>
          </a:xfrm>
          <a:prstGeom prst="ellipse">
            <a:avLst/>
          </a:prstGeom>
          <a:solidFill>
            <a:srgbClr val="E56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114032" y="1316736"/>
            <a:ext cx="91440" cy="91440"/>
          </a:xfrm>
          <a:prstGeom prst="ellipse">
            <a:avLst/>
          </a:prstGeom>
          <a:solidFill>
            <a:srgbClr val="E8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269480" y="1316736"/>
            <a:ext cx="91440" cy="91440"/>
          </a:xfrm>
          <a:prstGeom prst="ellipse">
            <a:avLst/>
          </a:prstGeom>
          <a:solidFill>
            <a:srgbClr val="6CC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Live app hero" descr="c_hero.png"/>
          <p:cNvPicPr>
            <a:picLocks noChangeAspect="1"/>
          </p:cNvPicPr>
          <p:nvPr/>
        </p:nvPicPr>
        <p:blipFill>
          <a:blip r:embed="rId2"/>
          <a:stretch>
            <a:fillRect/>
          </a:stretch>
        </p:blipFill>
        <p:spPr>
          <a:xfrm>
            <a:off x="6830568" y="1490472"/>
            <a:ext cx="4809744" cy="3347212"/>
          </a:xfrm>
          <a:prstGeom prst="rect">
            <a:avLst/>
          </a:prstGeom>
        </p:spPr>
      </p:pic>
      <p:sp>
        <p:nvSpPr>
          <p:cNvPr id="15" name="TextBox 14"/>
          <p:cNvSpPr txBox="1"/>
          <p:nvPr/>
        </p:nvSpPr>
        <p:spPr>
          <a:xfrm>
            <a:off x="6812280" y="4983480"/>
            <a:ext cx="4846320" cy="274320"/>
          </a:xfrm>
          <a:prstGeom prst="rect">
            <a:avLst/>
          </a:prstGeom>
          <a:noFill/>
        </p:spPr>
        <p:txBody>
          <a:bodyPr wrap="square" lIns="0" rIns="0" tIns="0" bIns="0" anchor="t">
            <a:spAutoFit/>
          </a:bodyPr>
          <a:lstStyle/>
          <a:p>
            <a:pPr algn="l"/>
            <a:r>
              <a:rPr sz="1100" b="0" i="0">
                <a:solidFill>
                  <a:srgbClr val="8C939B"/>
                </a:solidFill>
                <a:latin typeface="Calibri"/>
              </a:rPr>
              <a:t>Live on Replit: milestone-2-cash-proof-to-cash.replit.app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02 · THE PROBLEM</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Small firms finish the work, then wait months to be paid</a:t>
            </a:r>
          </a:p>
        </p:txBody>
      </p:sp>
      <p:sp>
        <p:nvSpPr>
          <p:cNvPr id="4" name="Subtitle"/>
          <p:cNvSpPr txBox="1"/>
          <p:nvPr/>
        </p:nvSpPr>
        <p:spPr>
          <a:xfrm>
            <a:off x="548640" y="1298448"/>
            <a:ext cx="11064240" cy="365760"/>
          </a:xfrm>
          <a:prstGeom prst="rect">
            <a:avLst/>
          </a:prstGeom>
          <a:noFill/>
        </p:spPr>
        <p:txBody>
          <a:bodyPr wrap="square" lIns="0" rIns="0" tIns="0" bIns="0" anchor="t">
            <a:spAutoFit/>
          </a:bodyPr>
          <a:lstStyle/>
          <a:p>
            <a:pPr algn="l"/>
            <a:r>
              <a:rPr sz="1600" b="0" i="0">
                <a:solidFill>
                  <a:srgbClr val="5B6066"/>
                </a:solidFill>
                <a:latin typeface="Calibri"/>
              </a:rPr>
              <a:t>Who feels it most: project-based micro-firms (design, renovation, events, IT) with 5–20 staff</a:t>
            </a:r>
          </a:p>
        </p:txBody>
      </p:sp>
      <p:cxnSp>
        <p:nvCxnSpPr>
          <p:cNvPr id="5" name="Connector 4"/>
          <p:cNvCxnSpPr/>
          <p:nvPr/>
        </p:nvCxnSpPr>
        <p:spPr>
          <a:xfrm>
            <a:off x="548640" y="1783080"/>
            <a:ext cx="7406639" cy="0"/>
          </a:xfrm>
          <a:prstGeom prst="line">
            <a:avLst/>
          </a:prstGeom>
          <a:ln w="12700">
            <a:solidFill>
              <a:srgbClr val="D8DBD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1947672"/>
            <a:ext cx="2834640" cy="822960"/>
          </a:xfrm>
          <a:prstGeom prst="rect">
            <a:avLst/>
          </a:prstGeom>
          <a:noFill/>
        </p:spPr>
        <p:txBody>
          <a:bodyPr wrap="square" lIns="0" rIns="0" tIns="0" bIns="0" anchor="ctr">
            <a:spAutoFit/>
          </a:bodyPr>
          <a:lstStyle/>
          <a:p>
            <a:pPr algn="l"/>
            <a:r>
              <a:rPr sz="3000" b="1" i="0">
                <a:solidFill>
                  <a:srgbClr val="14171C"/>
                </a:solidFill>
                <a:latin typeface="Cambria"/>
              </a:rPr>
              <a:t>64 days</a:t>
            </a:r>
          </a:p>
        </p:txBody>
      </p:sp>
      <p:sp>
        <p:nvSpPr>
          <p:cNvPr id="7" name="TextBox 6"/>
          <p:cNvSpPr txBox="1"/>
          <p:nvPr/>
        </p:nvSpPr>
        <p:spPr>
          <a:xfrm>
            <a:off x="3520440" y="1911095"/>
            <a:ext cx="4434840" cy="640080"/>
          </a:xfrm>
          <a:prstGeom prst="rect">
            <a:avLst/>
          </a:prstGeom>
          <a:noFill/>
        </p:spPr>
        <p:txBody>
          <a:bodyPr wrap="square" lIns="0" rIns="0" tIns="0" bIns="0" anchor="t">
            <a:spAutoFit/>
          </a:bodyPr>
          <a:lstStyle/>
          <a:p>
            <a:pPr algn="l"/>
            <a:r>
              <a:rPr sz="1500" b="0" i="0">
                <a:solidFill>
                  <a:srgbClr val="14171C"/>
                </a:solidFill>
                <a:latin typeface="Calibri"/>
              </a:rPr>
              <a:t>Average time Malaysian SMEs wait to be paid, versus 58 days for large firms.</a:t>
            </a:r>
          </a:p>
        </p:txBody>
      </p:sp>
      <p:sp>
        <p:nvSpPr>
          <p:cNvPr id="8" name="TextBox 7"/>
          <p:cNvSpPr txBox="1"/>
          <p:nvPr/>
        </p:nvSpPr>
        <p:spPr>
          <a:xfrm>
            <a:off x="3520440" y="2514600"/>
            <a:ext cx="4434840" cy="274320"/>
          </a:xfrm>
          <a:prstGeom prst="rect">
            <a:avLst/>
          </a:prstGeom>
          <a:noFill/>
        </p:spPr>
        <p:txBody>
          <a:bodyPr wrap="square" lIns="0" rIns="0" tIns="0" bIns="0" anchor="t">
            <a:spAutoFit/>
          </a:bodyPr>
          <a:lstStyle/>
          <a:p>
            <a:pPr algn="l"/>
            <a:r>
              <a:rPr sz="1000" b="0" i="0">
                <a:solidFill>
                  <a:srgbClr val="5B6066"/>
                </a:solidFill>
                <a:latin typeface="Calibri"/>
              </a:rPr>
              <a:t>Experian Malaysia, State of Credit 2025 (21 May 2025)</a:t>
            </a:r>
          </a:p>
        </p:txBody>
      </p:sp>
      <p:cxnSp>
        <p:nvCxnSpPr>
          <p:cNvPr id="9" name="Connector 8"/>
          <p:cNvCxnSpPr/>
          <p:nvPr/>
        </p:nvCxnSpPr>
        <p:spPr>
          <a:xfrm>
            <a:off x="548640" y="2880360"/>
            <a:ext cx="7406639" cy="0"/>
          </a:xfrm>
          <a:prstGeom prst="line">
            <a:avLst/>
          </a:prstGeom>
          <a:ln w="12700">
            <a:solidFill>
              <a:srgbClr val="D8DBD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3044952"/>
            <a:ext cx="2834640" cy="822960"/>
          </a:xfrm>
          <a:prstGeom prst="rect">
            <a:avLst/>
          </a:prstGeom>
          <a:noFill/>
        </p:spPr>
        <p:txBody>
          <a:bodyPr wrap="square" lIns="0" rIns="0" tIns="0" bIns="0" anchor="ctr">
            <a:spAutoFit/>
          </a:bodyPr>
          <a:lstStyle/>
          <a:p>
            <a:pPr algn="l"/>
            <a:r>
              <a:rPr sz="3000" b="1" i="0">
                <a:solidFill>
                  <a:srgbClr val="B85C14"/>
                </a:solidFill>
                <a:latin typeface="Cambria"/>
              </a:rPr>
              <a:t>90–120+</a:t>
            </a:r>
          </a:p>
        </p:txBody>
      </p:sp>
      <p:sp>
        <p:nvSpPr>
          <p:cNvPr id="11" name="TextBox 10"/>
          <p:cNvSpPr txBox="1"/>
          <p:nvPr/>
        </p:nvSpPr>
        <p:spPr>
          <a:xfrm>
            <a:off x="3520440" y="3008376"/>
            <a:ext cx="4434840" cy="640080"/>
          </a:xfrm>
          <a:prstGeom prst="rect">
            <a:avLst/>
          </a:prstGeom>
          <a:noFill/>
        </p:spPr>
        <p:txBody>
          <a:bodyPr wrap="square" lIns="0" rIns="0" tIns="0" bIns="0" anchor="t">
            <a:spAutoFit/>
          </a:bodyPr>
          <a:lstStyle/>
          <a:p>
            <a:pPr algn="l"/>
            <a:r>
              <a:rPr sz="1500" b="0" i="0">
                <a:solidFill>
                  <a:srgbClr val="14171C"/>
                </a:solidFill>
                <a:latin typeface="Calibri"/>
              </a:rPr>
              <a:t>Days in the payment cycle advertising agencies now face, stretched from 30.</a:t>
            </a:r>
          </a:p>
        </p:txBody>
      </p:sp>
      <p:sp>
        <p:nvSpPr>
          <p:cNvPr id="12" name="TextBox 11"/>
          <p:cNvSpPr txBox="1"/>
          <p:nvPr/>
        </p:nvSpPr>
        <p:spPr>
          <a:xfrm>
            <a:off x="3520440" y="3611880"/>
            <a:ext cx="4434840" cy="274320"/>
          </a:xfrm>
          <a:prstGeom prst="rect">
            <a:avLst/>
          </a:prstGeom>
          <a:noFill/>
        </p:spPr>
        <p:txBody>
          <a:bodyPr wrap="square" lIns="0" rIns="0" tIns="0" bIns="0" anchor="t">
            <a:spAutoFit/>
          </a:bodyPr>
          <a:lstStyle/>
          <a:p>
            <a:pPr algn="l"/>
            <a:r>
              <a:rPr sz="1000" b="0" i="0">
                <a:solidFill>
                  <a:srgbClr val="5B6066"/>
                </a:solidFill>
                <a:latin typeface="Calibri"/>
              </a:rPr>
              <a:t>4As Malaysia statement (11 May 2026)</a:t>
            </a:r>
          </a:p>
        </p:txBody>
      </p:sp>
      <p:cxnSp>
        <p:nvCxnSpPr>
          <p:cNvPr id="13" name="Connector 12"/>
          <p:cNvCxnSpPr/>
          <p:nvPr/>
        </p:nvCxnSpPr>
        <p:spPr>
          <a:xfrm>
            <a:off x="548640" y="3977639"/>
            <a:ext cx="7406639" cy="0"/>
          </a:xfrm>
          <a:prstGeom prst="line">
            <a:avLst/>
          </a:prstGeom>
          <a:ln w="12700">
            <a:solidFill>
              <a:srgbClr val="D8DBD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4142231"/>
            <a:ext cx="2834640" cy="822960"/>
          </a:xfrm>
          <a:prstGeom prst="rect">
            <a:avLst/>
          </a:prstGeom>
          <a:noFill/>
        </p:spPr>
        <p:txBody>
          <a:bodyPr wrap="square" lIns="0" rIns="0" tIns="0" bIns="0" anchor="ctr">
            <a:spAutoFit/>
          </a:bodyPr>
          <a:lstStyle/>
          <a:p>
            <a:pPr algn="l"/>
            <a:r>
              <a:rPr sz="2000" b="1" i="0">
                <a:solidFill>
                  <a:srgbClr val="14171C"/>
                </a:solidFill>
                <a:latin typeface="Cambria"/>
              </a:rPr>
              <a:t>Delayed client payments</a:t>
            </a:r>
          </a:p>
        </p:txBody>
      </p:sp>
      <p:sp>
        <p:nvSpPr>
          <p:cNvPr id="15" name="TextBox 14"/>
          <p:cNvSpPr txBox="1"/>
          <p:nvPr/>
        </p:nvSpPr>
        <p:spPr>
          <a:xfrm>
            <a:off x="3520440" y="4105655"/>
            <a:ext cx="4434840" cy="640080"/>
          </a:xfrm>
          <a:prstGeom prst="rect">
            <a:avLst/>
          </a:prstGeom>
          <a:noFill/>
        </p:spPr>
        <p:txBody>
          <a:bodyPr wrap="square" lIns="0" rIns="0" tIns="0" bIns="0" anchor="t">
            <a:spAutoFit/>
          </a:bodyPr>
          <a:lstStyle/>
          <a:p>
            <a:pPr algn="l"/>
            <a:r>
              <a:rPr sz="1500" b="0" i="0">
                <a:solidFill>
                  <a:srgbClr val="14171C"/>
                </a:solidFill>
                <a:latin typeface="Calibri"/>
              </a:rPr>
              <a:t>Named by Bank Negara as a cause of repayment stress in some micro and small firms.</a:t>
            </a:r>
          </a:p>
        </p:txBody>
      </p:sp>
      <p:sp>
        <p:nvSpPr>
          <p:cNvPr id="16" name="TextBox 15"/>
          <p:cNvSpPr txBox="1"/>
          <p:nvPr/>
        </p:nvSpPr>
        <p:spPr>
          <a:xfrm>
            <a:off x="3520440" y="4709159"/>
            <a:ext cx="4434840" cy="274320"/>
          </a:xfrm>
          <a:prstGeom prst="rect">
            <a:avLst/>
          </a:prstGeom>
          <a:noFill/>
        </p:spPr>
        <p:txBody>
          <a:bodyPr wrap="square" lIns="0" rIns="0" tIns="0" bIns="0" anchor="t">
            <a:spAutoFit/>
          </a:bodyPr>
          <a:lstStyle/>
          <a:p>
            <a:pPr algn="l"/>
            <a:r>
              <a:rPr sz="1000" b="0" i="0">
                <a:solidFill>
                  <a:srgbClr val="5B6066"/>
                </a:solidFill>
                <a:latin typeface="Calibri"/>
              </a:rPr>
              <a:t>Bank Negara Malaysia, Financial Stability Review 2H 2025, via Malay Mail (31 Mar 2026)</a:t>
            </a:r>
          </a:p>
        </p:txBody>
      </p:sp>
      <p:cxnSp>
        <p:nvCxnSpPr>
          <p:cNvPr id="17" name="Connector 16"/>
          <p:cNvCxnSpPr/>
          <p:nvPr/>
        </p:nvCxnSpPr>
        <p:spPr>
          <a:xfrm>
            <a:off x="548640" y="5074920"/>
            <a:ext cx="7406639" cy="0"/>
          </a:xfrm>
          <a:prstGeom prst="line">
            <a:avLst/>
          </a:prstGeom>
          <a:ln w="12700">
            <a:solidFill>
              <a:srgbClr val="D8DBD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5166359"/>
            <a:ext cx="2743200" cy="228600"/>
          </a:xfrm>
          <a:prstGeom prst="rect">
            <a:avLst/>
          </a:prstGeom>
          <a:noFill/>
        </p:spPr>
        <p:txBody>
          <a:bodyPr wrap="square" lIns="0" rIns="0" tIns="0" bIns="0" anchor="t">
            <a:spAutoFit/>
          </a:bodyPr>
          <a:lstStyle/>
          <a:p>
            <a:pPr algn="l"/>
            <a:r>
              <a:rPr sz="1000" b="1" i="0">
                <a:solidFill>
                  <a:srgbClr val="5B6066"/>
                </a:solidFill>
                <a:latin typeface="Calibri"/>
              </a:rPr>
              <a:t>IN THE NEWS</a:t>
            </a:r>
          </a:p>
        </p:txBody>
      </p:sp>
      <p:sp>
        <p:nvSpPr>
          <p:cNvPr id="19" name="Rounded Rectangle 18"/>
          <p:cNvSpPr/>
          <p:nvPr/>
        </p:nvSpPr>
        <p:spPr>
          <a:xfrm>
            <a:off x="548640" y="5404104"/>
            <a:ext cx="2066898" cy="621792"/>
          </a:xfrm>
          <a:prstGeom prst="roundRect">
            <a:avLst>
              <a:gd name="adj" fmla="val 20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lip_experian.png"/>
          <p:cNvPicPr>
            <a:picLocks noChangeAspect="1"/>
          </p:cNvPicPr>
          <p:nvPr/>
        </p:nvPicPr>
        <p:blipFill>
          <a:blip r:embed="rId2"/>
          <a:stretch>
            <a:fillRect/>
          </a:stretch>
        </p:blipFill>
        <p:spPr>
          <a:xfrm>
            <a:off x="576072" y="5431536"/>
            <a:ext cx="2012034" cy="566928"/>
          </a:xfrm>
          <a:prstGeom prst="rect">
            <a:avLst/>
          </a:prstGeom>
        </p:spPr>
      </p:pic>
      <p:sp>
        <p:nvSpPr>
          <p:cNvPr id="21" name="Rounded Rectangle 20"/>
          <p:cNvSpPr/>
          <p:nvPr/>
        </p:nvSpPr>
        <p:spPr>
          <a:xfrm>
            <a:off x="2816706" y="5404104"/>
            <a:ext cx="1673464" cy="621792"/>
          </a:xfrm>
          <a:prstGeom prst="roundRect">
            <a:avLst>
              <a:gd name="adj" fmla="val 20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ip_4as.png"/>
          <p:cNvPicPr>
            <a:picLocks noChangeAspect="1"/>
          </p:cNvPicPr>
          <p:nvPr/>
        </p:nvPicPr>
        <p:blipFill>
          <a:blip r:embed="rId3"/>
          <a:stretch>
            <a:fillRect/>
          </a:stretch>
        </p:blipFill>
        <p:spPr>
          <a:xfrm>
            <a:off x="2844138" y="5431536"/>
            <a:ext cx="1618600" cy="566928"/>
          </a:xfrm>
          <a:prstGeom prst="rect">
            <a:avLst/>
          </a:prstGeom>
        </p:spPr>
      </p:pic>
      <p:sp>
        <p:nvSpPr>
          <p:cNvPr id="23" name="Rounded Rectangle 22"/>
          <p:cNvSpPr/>
          <p:nvPr/>
        </p:nvSpPr>
        <p:spPr>
          <a:xfrm>
            <a:off x="4691339" y="5404104"/>
            <a:ext cx="2133763" cy="621792"/>
          </a:xfrm>
          <a:prstGeom prst="roundRect">
            <a:avLst>
              <a:gd name="adj" fmla="val 20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lip_paynet.png"/>
          <p:cNvPicPr>
            <a:picLocks noChangeAspect="1"/>
          </p:cNvPicPr>
          <p:nvPr/>
        </p:nvPicPr>
        <p:blipFill>
          <a:blip r:embed="rId4"/>
          <a:stretch>
            <a:fillRect/>
          </a:stretch>
        </p:blipFill>
        <p:spPr>
          <a:xfrm>
            <a:off x="4718771" y="5431536"/>
            <a:ext cx="2078899" cy="566928"/>
          </a:xfrm>
          <a:prstGeom prst="rect">
            <a:avLst/>
          </a:prstGeom>
        </p:spPr>
      </p:pic>
      <p:sp>
        <p:nvSpPr>
          <p:cNvPr id="25" name="Burden card"/>
          <p:cNvSpPr/>
          <p:nvPr/>
        </p:nvSpPr>
        <p:spPr>
          <a:xfrm>
            <a:off x="8366760" y="1783080"/>
            <a:ext cx="3291840" cy="4206240"/>
          </a:xfrm>
          <a:prstGeom prst="roundRect">
            <a:avLst>
              <a:gd name="adj" fmla="val 5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41080" y="2011680"/>
            <a:ext cx="2788920" cy="365760"/>
          </a:xfrm>
          <a:prstGeom prst="rect">
            <a:avLst/>
          </a:prstGeom>
          <a:noFill/>
        </p:spPr>
        <p:txBody>
          <a:bodyPr wrap="square" lIns="0" rIns="0" tIns="0" bIns="0" anchor="t">
            <a:spAutoFit/>
          </a:bodyPr>
          <a:lstStyle/>
          <a:p>
            <a:pPr algn="l"/>
            <a:r>
              <a:rPr sz="1100" b="1" i="0">
                <a:solidFill>
                  <a:srgbClr val="8FD6B0"/>
                </a:solidFill>
                <a:latin typeface="Calibri"/>
              </a:rPr>
              <a:t>THE DAILY BURDEN</a:t>
            </a:r>
          </a:p>
        </p:txBody>
      </p:sp>
      <p:sp>
        <p:nvSpPr>
          <p:cNvPr id="27" name="TextBox 26"/>
          <p:cNvSpPr txBox="1"/>
          <p:nvPr/>
        </p:nvSpPr>
        <p:spPr>
          <a:xfrm>
            <a:off x="8641080" y="2423160"/>
            <a:ext cx="2788920" cy="3017520"/>
          </a:xfrm>
          <a:prstGeom prst="rect">
            <a:avLst/>
          </a:prstGeom>
          <a:noFill/>
        </p:spPr>
        <p:txBody>
          <a:bodyPr wrap="square" lIns="0" rIns="0" tIns="0" bIns="0" anchor="t">
            <a:spAutoFit/>
          </a:bodyPr>
          <a:lstStyle/>
          <a:p>
            <a:pPr algn="l" marL="201168" indent="-201168">
              <a:spcAft>
                <a:spcPts val="1000"/>
              </a:spcAft>
              <a:buChar char="•"/>
            </a:pPr>
            <a:r>
              <a:rPr sz="1500" b="0" i="0">
                <a:solidFill>
                  <a:srgbClr val="FFFFFF"/>
                </a:solidFill>
                <a:latin typeface="Calibri"/>
              </a:rPr>
              <a:t>Remember to invoice every finished milestone</a:t>
            </a:r>
          </a:p>
          <a:p>
            <a:pPr algn="l" marL="201168" indent="-201168">
              <a:spcAft>
                <a:spcPts val="1000"/>
              </a:spcAft>
              <a:buChar char="•"/>
            </a:pPr>
            <a:r>
              <a:rPr sz="1500" b="0" i="0">
                <a:solidFill>
                  <a:srgbClr val="FFFFFF"/>
                </a:solidFill>
                <a:latin typeface="Calibri"/>
              </a:rPr>
              <a:t>Chase each client, one by one, on WhatsApp</a:t>
            </a:r>
          </a:p>
          <a:p>
            <a:pPr algn="l" marL="201168" indent="-201168">
              <a:spcAft>
                <a:spcPts val="1000"/>
              </a:spcAft>
              <a:buChar char="•"/>
            </a:pPr>
            <a:r>
              <a:rPr sz="1500" b="0" i="0">
                <a:solidFill>
                  <a:srgbClr val="FFFFFF"/>
                </a:solidFill>
                <a:latin typeface="Calibri"/>
              </a:rPr>
              <a:t>Open the bank app to check whether a “dah bayar” screenshot is real</a:t>
            </a:r>
          </a:p>
          <a:p>
            <a:pPr algn="l" marL="201168" indent="-201168">
              <a:spcAft>
                <a:spcPts val="1000"/>
              </a:spcAft>
              <a:buChar char="•"/>
            </a:pPr>
            <a:r>
              <a:rPr sz="1500" b="0" i="0">
                <a:solidFill>
                  <a:srgbClr val="FFFFFF"/>
                </a:solidFill>
                <a:latin typeface="Calibri"/>
              </a:rPr>
              <a:t>Track what is still due in a spreadsheet</a:t>
            </a:r>
          </a:p>
        </p:txBody>
      </p:sp>
      <p:sp>
        <p:nvSpPr>
          <p:cNvPr id="28" name="TextBox 27"/>
          <p:cNvSpPr txBox="1"/>
          <p:nvPr/>
        </p:nvSpPr>
        <p:spPr>
          <a:xfrm>
            <a:off x="548640" y="6108192"/>
            <a:ext cx="11064240" cy="274320"/>
          </a:xfrm>
          <a:prstGeom prst="rect">
            <a:avLst/>
          </a:prstGeom>
          <a:noFill/>
        </p:spPr>
        <p:txBody>
          <a:bodyPr wrap="square" lIns="0" rIns="0" tIns="0" bIns="0" anchor="t">
            <a:spAutoFit/>
          </a:bodyPr>
          <a:lstStyle/>
          <a:p>
            <a:pPr algn="l"/>
            <a:r>
              <a:rPr sz="1200" b="0" i="1">
                <a:solidFill>
                  <a:srgbClr val="5B6066"/>
                </a:solidFill>
                <a:latin typeface="Calibri"/>
              </a:rPr>
              <a:t>Why now: Malaysia processed 8.44 billion digital payment transactions in 2025, so more payments arrive as transfers with a screenshot as proof (PayNet, Apr 2026).</a:t>
            </a:r>
          </a:p>
        </p:txBody>
      </p:sp>
      <p:sp>
        <p:nvSpPr>
          <p:cNvPr id="29"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Sources: experian.com.my · aaaa.org.my · malaymail.com · paynet.my (links in the speaker notes)</a:t>
            </a:r>
          </a:p>
        </p:txBody>
      </p:sp>
      <p:sp>
        <p:nvSpPr>
          <p:cNvPr id="30"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2/14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03 · WHERE IT GOES WRONG</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A screenshot is a claim, not a receipt</a:t>
            </a:r>
          </a:p>
        </p:txBody>
      </p:sp>
      <p:sp>
        <p:nvSpPr>
          <p:cNvPr id="4" name="Subtitle"/>
          <p:cNvSpPr txBox="1"/>
          <p:nvPr/>
        </p:nvSpPr>
        <p:spPr>
          <a:xfrm>
            <a:off x="548640" y="1298448"/>
            <a:ext cx="11064240" cy="365760"/>
          </a:xfrm>
          <a:prstGeom prst="rect">
            <a:avLst/>
          </a:prstGeom>
          <a:noFill/>
        </p:spPr>
        <p:txBody>
          <a:bodyPr wrap="square" lIns="0" rIns="0" tIns="0" bIns="0" anchor="t">
            <a:spAutoFit/>
          </a:bodyPr>
          <a:lstStyle/>
          <a:p>
            <a:pPr algn="l"/>
            <a:r>
              <a:rPr sz="1600" b="0" i="0">
                <a:solidFill>
                  <a:srgbClr val="5B6066"/>
                </a:solidFill>
                <a:latin typeface="Calibri"/>
              </a:rPr>
              <a:t>Our demo scenario (synthetic): Studio Lumen's RM18,000 invoice, and the client says “dah bayar”</a:t>
            </a:r>
          </a:p>
        </p:txBody>
      </p:sp>
      <p:sp>
        <p:nvSpPr>
          <p:cNvPr id="5" name="Scenario 1"/>
          <p:cNvSpPr/>
          <p:nvPr/>
        </p:nvSpPr>
        <p:spPr>
          <a:xfrm>
            <a:off x="548640" y="1828800"/>
            <a:ext cx="2377440" cy="210312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029968"/>
            <a:ext cx="790956" cy="292608"/>
          </a:xfrm>
          <a:prstGeom prst="roundRect">
            <a:avLst>
              <a:gd name="adj" fmla="val 50000"/>
            </a:avLst>
          </a:prstGeom>
          <a:solidFill>
            <a:srgbClr val="FBEED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b="1">
                <a:solidFill>
                  <a:srgbClr val="B85C14"/>
                </a:solidFill>
                <a:latin typeface="Calibri"/>
              </a:rPr>
              <a:t>CLAIM</a:t>
            </a:r>
          </a:p>
        </p:txBody>
      </p:sp>
      <p:sp>
        <p:nvSpPr>
          <p:cNvPr id="7" name="TextBox 6"/>
          <p:cNvSpPr txBox="1"/>
          <p:nvPr/>
        </p:nvSpPr>
        <p:spPr>
          <a:xfrm>
            <a:off x="777240" y="2468880"/>
            <a:ext cx="1965960" cy="274320"/>
          </a:xfrm>
          <a:prstGeom prst="rect">
            <a:avLst/>
          </a:prstGeom>
          <a:noFill/>
        </p:spPr>
        <p:txBody>
          <a:bodyPr wrap="square" lIns="0" rIns="0" tIns="0" bIns="0" anchor="t">
            <a:spAutoFit/>
          </a:bodyPr>
          <a:lstStyle/>
          <a:p>
            <a:pPr algn="l"/>
            <a:r>
              <a:rPr sz="1200" b="0" i="0">
                <a:solidFill>
                  <a:srgbClr val="5B6066"/>
                </a:solidFill>
                <a:latin typeface="Calibri"/>
              </a:rPr>
              <a:t>On WhatsApp</a:t>
            </a:r>
          </a:p>
        </p:txBody>
      </p:sp>
      <p:sp>
        <p:nvSpPr>
          <p:cNvPr id="8" name="TextBox 7"/>
          <p:cNvSpPr txBox="1"/>
          <p:nvPr/>
        </p:nvSpPr>
        <p:spPr>
          <a:xfrm>
            <a:off x="777240" y="2761488"/>
            <a:ext cx="2011680" cy="685800"/>
          </a:xfrm>
          <a:prstGeom prst="rect">
            <a:avLst/>
          </a:prstGeom>
          <a:noFill/>
        </p:spPr>
        <p:txBody>
          <a:bodyPr wrap="square" lIns="0" rIns="0" tIns="0" bIns="0" anchor="t">
            <a:spAutoFit/>
          </a:bodyPr>
          <a:lstStyle/>
          <a:p>
            <a:pPr algn="l"/>
            <a:r>
              <a:rPr sz="1700" b="1" i="0">
                <a:solidFill>
                  <a:srgbClr val="14171C"/>
                </a:solidFill>
                <a:latin typeface="Cambria"/>
              </a:rPr>
              <a:t>“Dah bayar boss, RM9,000.”</a:t>
            </a:r>
          </a:p>
        </p:txBody>
      </p:sp>
      <p:sp>
        <p:nvSpPr>
          <p:cNvPr id="9" name="TextBox 8"/>
          <p:cNvSpPr txBox="1"/>
          <p:nvPr/>
        </p:nvSpPr>
        <p:spPr>
          <a:xfrm>
            <a:off x="777240" y="3520440"/>
            <a:ext cx="1965960" cy="274320"/>
          </a:xfrm>
          <a:prstGeom prst="rect">
            <a:avLst/>
          </a:prstGeom>
          <a:noFill/>
        </p:spPr>
        <p:txBody>
          <a:bodyPr wrap="square" lIns="0" rIns="0" tIns="0" bIns="0" anchor="t">
            <a:spAutoFit/>
          </a:bodyPr>
          <a:lstStyle/>
          <a:p>
            <a:pPr algn="l"/>
            <a:r>
              <a:rPr sz="1200" b="0" i="0">
                <a:solidFill>
                  <a:srgbClr val="5B6066"/>
                </a:solidFill>
                <a:latin typeface="Calibri"/>
              </a:rPr>
              <a:t>+ a transfer screenshot</a:t>
            </a:r>
          </a:p>
        </p:txBody>
      </p:sp>
      <p:cxnSp>
        <p:nvCxnSpPr>
          <p:cNvPr id="10" name="Connector 9"/>
          <p:cNvCxnSpPr/>
          <p:nvPr/>
        </p:nvCxnSpPr>
        <p:spPr>
          <a:xfrm>
            <a:off x="2944368" y="2880360"/>
            <a:ext cx="192024" cy="0"/>
          </a:xfrm>
          <a:prstGeom prst="line">
            <a:avLst/>
          </a:prstGeom>
          <a:ln w="19050">
            <a:solidFill>
              <a:srgbClr val="5B60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Scenario 2"/>
          <p:cNvSpPr/>
          <p:nvPr/>
        </p:nvSpPr>
        <p:spPr>
          <a:xfrm>
            <a:off x="3154680" y="1828800"/>
            <a:ext cx="2377440" cy="210312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83280" y="2029968"/>
            <a:ext cx="694944" cy="292608"/>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b="1">
                <a:solidFill>
                  <a:srgbClr val="1B7A50"/>
                </a:solidFill>
                <a:latin typeface="Calibri"/>
              </a:rPr>
              <a:t>BANK</a:t>
            </a:r>
          </a:p>
        </p:txBody>
      </p:sp>
      <p:sp>
        <p:nvSpPr>
          <p:cNvPr id="13" name="TextBox 12"/>
          <p:cNvSpPr txBox="1"/>
          <p:nvPr/>
        </p:nvSpPr>
        <p:spPr>
          <a:xfrm>
            <a:off x="3383280" y="2468880"/>
            <a:ext cx="1965960" cy="274320"/>
          </a:xfrm>
          <a:prstGeom prst="rect">
            <a:avLst/>
          </a:prstGeom>
          <a:noFill/>
        </p:spPr>
        <p:txBody>
          <a:bodyPr wrap="square" lIns="0" rIns="0" tIns="0" bIns="0" anchor="t">
            <a:spAutoFit/>
          </a:bodyPr>
          <a:lstStyle/>
          <a:p>
            <a:pPr algn="l"/>
            <a:r>
              <a:rPr sz="1200" b="0" i="0">
                <a:solidFill>
                  <a:srgbClr val="5B6066"/>
                </a:solidFill>
                <a:latin typeface="Calibri"/>
              </a:rPr>
              <a:t>Imported bank credit</a:t>
            </a:r>
          </a:p>
        </p:txBody>
      </p:sp>
      <p:sp>
        <p:nvSpPr>
          <p:cNvPr id="14" name="TextBox 13"/>
          <p:cNvSpPr txBox="1"/>
          <p:nvPr/>
        </p:nvSpPr>
        <p:spPr>
          <a:xfrm>
            <a:off x="3383280" y="2761488"/>
            <a:ext cx="2011680" cy="685800"/>
          </a:xfrm>
          <a:prstGeom prst="rect">
            <a:avLst/>
          </a:prstGeom>
          <a:noFill/>
        </p:spPr>
        <p:txBody>
          <a:bodyPr wrap="square" lIns="0" rIns="0" tIns="0" bIns="0" anchor="t">
            <a:spAutoFit/>
          </a:bodyPr>
          <a:lstStyle/>
          <a:p>
            <a:pPr algn="l"/>
            <a:r>
              <a:rPr sz="1700" b="1" i="0">
                <a:solidFill>
                  <a:srgbClr val="14171C"/>
                </a:solidFill>
                <a:latin typeface="Cambria"/>
              </a:rPr>
              <a:t>RM9,000 received</a:t>
            </a:r>
          </a:p>
        </p:txBody>
      </p:sp>
      <p:sp>
        <p:nvSpPr>
          <p:cNvPr id="15" name="TextBox 14"/>
          <p:cNvSpPr txBox="1"/>
          <p:nvPr/>
        </p:nvSpPr>
        <p:spPr>
          <a:xfrm>
            <a:off x="3383280" y="3520440"/>
            <a:ext cx="1965960" cy="274320"/>
          </a:xfrm>
          <a:prstGeom prst="rect">
            <a:avLst/>
          </a:prstGeom>
          <a:noFill/>
        </p:spPr>
        <p:txBody>
          <a:bodyPr wrap="square" lIns="0" rIns="0" tIns="0" bIns="0" anchor="t">
            <a:spAutoFit/>
          </a:bodyPr>
          <a:lstStyle/>
          <a:p>
            <a:pPr algn="l"/>
            <a:r>
              <a:rPr sz="1200" b="0" i="0">
                <a:solidFill>
                  <a:srgbClr val="5B6066"/>
                </a:solidFill>
                <a:latin typeface="Calibri"/>
              </a:rPr>
              <a:t>ref LMN-231026-001</a:t>
            </a:r>
          </a:p>
        </p:txBody>
      </p:sp>
      <p:cxnSp>
        <p:nvCxnSpPr>
          <p:cNvPr id="16" name="Connector 15"/>
          <p:cNvCxnSpPr/>
          <p:nvPr/>
        </p:nvCxnSpPr>
        <p:spPr>
          <a:xfrm>
            <a:off x="5550408" y="2880360"/>
            <a:ext cx="192024" cy="0"/>
          </a:xfrm>
          <a:prstGeom prst="line">
            <a:avLst/>
          </a:prstGeom>
          <a:ln w="19050">
            <a:solidFill>
              <a:srgbClr val="5B60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cenario 3"/>
          <p:cNvSpPr/>
          <p:nvPr/>
        </p:nvSpPr>
        <p:spPr>
          <a:xfrm>
            <a:off x="5760720" y="1828800"/>
            <a:ext cx="2377440" cy="210312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89320" y="2029968"/>
            <a:ext cx="1175004" cy="292608"/>
          </a:xfrm>
          <a:prstGeom prst="roundRect">
            <a:avLst>
              <a:gd name="adj" fmla="val 50000"/>
            </a:avLst>
          </a:prstGeom>
          <a:solidFill>
            <a:srgbClr val="FBEED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b="1">
                <a:solidFill>
                  <a:srgbClr val="B85C14"/>
                </a:solidFill>
                <a:latin typeface="Calibri"/>
              </a:rPr>
              <a:t>STILL DUE</a:t>
            </a:r>
          </a:p>
        </p:txBody>
      </p:sp>
      <p:sp>
        <p:nvSpPr>
          <p:cNvPr id="19" name="TextBox 18"/>
          <p:cNvSpPr txBox="1"/>
          <p:nvPr/>
        </p:nvSpPr>
        <p:spPr>
          <a:xfrm>
            <a:off x="5989320" y="2468880"/>
            <a:ext cx="1965960" cy="274320"/>
          </a:xfrm>
          <a:prstGeom prst="rect">
            <a:avLst/>
          </a:prstGeom>
          <a:noFill/>
        </p:spPr>
        <p:txBody>
          <a:bodyPr wrap="square" lIns="0" rIns="0" tIns="0" bIns="0" anchor="t">
            <a:spAutoFit/>
          </a:bodyPr>
          <a:lstStyle/>
          <a:p>
            <a:pPr algn="l"/>
            <a:r>
              <a:rPr sz="1200" b="0" i="0">
                <a:solidFill>
                  <a:srgbClr val="5B6066"/>
                </a:solidFill>
                <a:latin typeface="Calibri"/>
              </a:rPr>
              <a:t>Invoice LUMEN-DEMO-001</a:t>
            </a:r>
          </a:p>
        </p:txBody>
      </p:sp>
      <p:sp>
        <p:nvSpPr>
          <p:cNvPr id="20" name="TextBox 19"/>
          <p:cNvSpPr txBox="1"/>
          <p:nvPr/>
        </p:nvSpPr>
        <p:spPr>
          <a:xfrm>
            <a:off x="5989320" y="2761488"/>
            <a:ext cx="2011680" cy="685800"/>
          </a:xfrm>
          <a:prstGeom prst="rect">
            <a:avLst/>
          </a:prstGeom>
          <a:noFill/>
        </p:spPr>
        <p:txBody>
          <a:bodyPr wrap="square" lIns="0" rIns="0" tIns="0" bIns="0" anchor="t">
            <a:spAutoFit/>
          </a:bodyPr>
          <a:lstStyle/>
          <a:p>
            <a:pPr algn="l"/>
            <a:r>
              <a:rPr sz="1700" b="1" i="0">
                <a:solidFill>
                  <a:srgbClr val="14171C"/>
                </a:solidFill>
                <a:latin typeface="Cambria"/>
              </a:rPr>
              <a:t>RM9,000 outstanding</a:t>
            </a:r>
          </a:p>
        </p:txBody>
      </p:sp>
      <p:sp>
        <p:nvSpPr>
          <p:cNvPr id="21" name="TextBox 20"/>
          <p:cNvSpPr txBox="1"/>
          <p:nvPr/>
        </p:nvSpPr>
        <p:spPr>
          <a:xfrm>
            <a:off x="5989320" y="3520440"/>
            <a:ext cx="1965960" cy="274320"/>
          </a:xfrm>
          <a:prstGeom prst="rect">
            <a:avLst/>
          </a:prstGeom>
          <a:noFill/>
        </p:spPr>
        <p:txBody>
          <a:bodyPr wrap="square" lIns="0" rIns="0" tIns="0" bIns="0" anchor="t">
            <a:spAutoFit/>
          </a:bodyPr>
          <a:lstStyle/>
          <a:p>
            <a:pPr algn="l"/>
            <a:r>
              <a:rPr sz="1200" b="0" i="0">
                <a:solidFill>
                  <a:srgbClr val="5B6066"/>
                </a:solidFill>
                <a:latin typeface="Calibri"/>
              </a:rPr>
              <a:t>keep collecting</a:t>
            </a:r>
          </a:p>
        </p:txBody>
      </p:sp>
      <p:sp>
        <p:nvSpPr>
          <p:cNvPr id="22" name="Mistake 1"/>
          <p:cNvSpPr/>
          <p:nvPr/>
        </p:nvSpPr>
        <p:spPr>
          <a:xfrm>
            <a:off x="548640" y="4206240"/>
            <a:ext cx="3749039" cy="1051560"/>
          </a:xfrm>
          <a:prstGeom prst="roundRect">
            <a:avLst>
              <a:gd name="adj" fmla="val 60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43400"/>
            <a:ext cx="3383280" cy="822960"/>
          </a:xfrm>
          <a:prstGeom prst="rect">
            <a:avLst/>
          </a:prstGeom>
          <a:noFill/>
        </p:spPr>
        <p:txBody>
          <a:bodyPr wrap="square" lIns="0" rIns="0" tIns="0" bIns="0" anchor="t">
            <a:spAutoFit/>
          </a:bodyPr>
          <a:lstStyle/>
          <a:p>
            <a:pPr algn="l"/>
            <a:r>
              <a:rPr sz="1500" b="1" i="0">
                <a:solidFill>
                  <a:srgbClr val="B3261E"/>
                </a:solidFill>
                <a:latin typeface="Calibri"/>
              </a:rPr>
              <a:t>✕  Mark it paid</a:t>
            </a:r>
          </a:p>
          <a:p>
            <a:pPr algn="l"/>
            <a:r>
              <a:rPr sz="1500" b="0" i="0">
                <a:solidFill>
                  <a:srgbClr val="14171C"/>
                </a:solidFill>
                <a:latin typeface="Calibri"/>
              </a:rPr>
              <a:t>The other RM9,000 drops out of collection.</a:t>
            </a:r>
          </a:p>
        </p:txBody>
      </p:sp>
      <p:sp>
        <p:nvSpPr>
          <p:cNvPr id="24" name="Mistake 2"/>
          <p:cNvSpPr/>
          <p:nvPr/>
        </p:nvSpPr>
        <p:spPr>
          <a:xfrm>
            <a:off x="4480560" y="4206240"/>
            <a:ext cx="3611880" cy="1051560"/>
          </a:xfrm>
          <a:prstGeom prst="roundRect">
            <a:avLst>
              <a:gd name="adj" fmla="val 60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09160" y="4343400"/>
            <a:ext cx="3291840" cy="822960"/>
          </a:xfrm>
          <a:prstGeom prst="rect">
            <a:avLst/>
          </a:prstGeom>
          <a:noFill/>
        </p:spPr>
        <p:txBody>
          <a:bodyPr wrap="square" lIns="0" rIns="0" tIns="0" bIns="0" anchor="t">
            <a:spAutoFit/>
          </a:bodyPr>
          <a:lstStyle/>
          <a:p>
            <a:pPr algn="l"/>
            <a:r>
              <a:rPr sz="1500" b="1" i="0">
                <a:solidFill>
                  <a:srgbClr val="B3261E"/>
                </a:solidFill>
                <a:latin typeface="Calibri"/>
              </a:rPr>
              <a:t>✕  Count “I'll pay 28 Oct” as cash</a:t>
            </a:r>
          </a:p>
          <a:p>
            <a:pPr algn="l"/>
            <a:r>
              <a:rPr sz="1500" b="0" i="0">
                <a:solidFill>
                  <a:srgbClr val="14171C"/>
                </a:solidFill>
                <a:latin typeface="Calibri"/>
              </a:rPr>
              <a:t>Available funds look higher than they are.</a:t>
            </a:r>
          </a:p>
        </p:txBody>
      </p:sp>
      <p:sp>
        <p:nvSpPr>
          <p:cNvPr id="26" name="Real incident"/>
          <p:cNvSpPr/>
          <p:nvPr/>
        </p:nvSpPr>
        <p:spPr>
          <a:xfrm>
            <a:off x="8412480" y="1828800"/>
            <a:ext cx="3246120" cy="3429000"/>
          </a:xfrm>
          <a:prstGeom prst="roundRect">
            <a:avLst>
              <a:gd name="adj" fmla="val 5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0" y="2057400"/>
            <a:ext cx="2743200" cy="274320"/>
          </a:xfrm>
          <a:prstGeom prst="rect">
            <a:avLst/>
          </a:prstGeom>
          <a:noFill/>
        </p:spPr>
        <p:txBody>
          <a:bodyPr wrap="square" lIns="0" rIns="0" tIns="0" bIns="0" anchor="t">
            <a:spAutoFit/>
          </a:bodyPr>
          <a:lstStyle/>
          <a:p>
            <a:pPr algn="l"/>
            <a:r>
              <a:rPr sz="1100" b="1" i="0">
                <a:solidFill>
                  <a:srgbClr val="F2B273"/>
                </a:solidFill>
                <a:latin typeface="Calibri"/>
              </a:rPr>
              <a:t>IT ALREADY HAPPENS</a:t>
            </a:r>
          </a:p>
        </p:txBody>
      </p:sp>
      <p:sp>
        <p:nvSpPr>
          <p:cNvPr id="28" name="TextBox 27"/>
          <p:cNvSpPr txBox="1"/>
          <p:nvPr/>
        </p:nvSpPr>
        <p:spPr>
          <a:xfrm>
            <a:off x="8686800" y="2468880"/>
            <a:ext cx="2743200" cy="731520"/>
          </a:xfrm>
          <a:prstGeom prst="rect">
            <a:avLst/>
          </a:prstGeom>
          <a:noFill/>
        </p:spPr>
        <p:txBody>
          <a:bodyPr wrap="square" lIns="0" rIns="0" tIns="0" bIns="0" anchor="t">
            <a:spAutoFit/>
          </a:bodyPr>
          <a:lstStyle/>
          <a:p>
            <a:pPr algn="l"/>
            <a:r>
              <a:rPr sz="4400" b="1" i="0">
                <a:solidFill>
                  <a:srgbClr val="FFFFFF"/>
                </a:solidFill>
                <a:latin typeface="Cambria"/>
              </a:rPr>
              <a:t>RM780</a:t>
            </a:r>
          </a:p>
        </p:txBody>
      </p:sp>
      <p:sp>
        <p:nvSpPr>
          <p:cNvPr id="29" name="TextBox 28"/>
          <p:cNvSpPr txBox="1"/>
          <p:nvPr/>
        </p:nvSpPr>
        <p:spPr>
          <a:xfrm>
            <a:off x="8686800" y="3200400"/>
            <a:ext cx="2743200" cy="1005840"/>
          </a:xfrm>
          <a:prstGeom prst="rect">
            <a:avLst/>
          </a:prstGeom>
          <a:noFill/>
        </p:spPr>
        <p:txBody>
          <a:bodyPr wrap="square" lIns="0" rIns="0" tIns="0" bIns="0" anchor="t">
            <a:spAutoFit/>
          </a:bodyPr>
          <a:lstStyle/>
          <a:p>
            <a:pPr algn="l"/>
            <a:r>
              <a:rPr sz="1300" b="0" i="0">
                <a:solidFill>
                  <a:srgbClr val="C6CBD1"/>
                </a:solidFill>
                <a:latin typeface="Calibri"/>
              </a:rPr>
              <a:t>of goods lost by a Port Dickson trader to a fake online-transfer receipt. The account later showed no credit.</a:t>
            </a:r>
          </a:p>
        </p:txBody>
      </p:sp>
      <p:sp>
        <p:nvSpPr>
          <p:cNvPr id="30" name="Rounded Rectangle 29"/>
          <p:cNvSpPr/>
          <p:nvPr/>
        </p:nvSpPr>
        <p:spPr>
          <a:xfrm>
            <a:off x="8641080" y="4224528"/>
            <a:ext cx="2788920" cy="612648"/>
          </a:xfrm>
          <a:prstGeom prst="roundRect">
            <a:avLst>
              <a:gd name="adj" fmla="val 20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clip_vibes.png"/>
          <p:cNvPicPr>
            <a:picLocks noChangeAspect="1"/>
          </p:cNvPicPr>
          <p:nvPr/>
        </p:nvPicPr>
        <p:blipFill>
          <a:blip r:embed="rId2"/>
          <a:stretch>
            <a:fillRect/>
          </a:stretch>
        </p:blipFill>
        <p:spPr>
          <a:xfrm>
            <a:off x="8668511" y="4251960"/>
            <a:ext cx="2734056" cy="557784"/>
          </a:xfrm>
          <a:prstGeom prst="rect">
            <a:avLst/>
          </a:prstGeom>
        </p:spPr>
      </p:pic>
      <p:sp>
        <p:nvSpPr>
          <p:cNvPr id="32" name="TextBox 31"/>
          <p:cNvSpPr txBox="1"/>
          <p:nvPr/>
        </p:nvSpPr>
        <p:spPr>
          <a:xfrm>
            <a:off x="8686800" y="4919472"/>
            <a:ext cx="2743200" cy="274320"/>
          </a:xfrm>
          <a:prstGeom prst="rect">
            <a:avLst/>
          </a:prstGeom>
          <a:noFill/>
        </p:spPr>
        <p:txBody>
          <a:bodyPr wrap="square" lIns="0" rIns="0" tIns="0" bIns="0" anchor="t">
            <a:spAutoFit/>
          </a:bodyPr>
          <a:lstStyle/>
          <a:p>
            <a:pPr algn="l"/>
            <a:r>
              <a:rPr sz="1100" b="0" i="0">
                <a:solidFill>
                  <a:srgbClr val="8C939B"/>
                </a:solidFill>
                <a:latin typeface="Calibri"/>
              </a:rPr>
              <a:t>The Vibes, 17 Sep 2025</a:t>
            </a:r>
          </a:p>
        </p:txBody>
      </p:sp>
      <p:sp>
        <p:nvSpPr>
          <p:cNvPr id="33" name="TextBox 32"/>
          <p:cNvSpPr txBox="1"/>
          <p:nvPr/>
        </p:nvSpPr>
        <p:spPr>
          <a:xfrm>
            <a:off x="548640" y="5623560"/>
            <a:ext cx="11064240" cy="502920"/>
          </a:xfrm>
          <a:prstGeom prst="rect">
            <a:avLst/>
          </a:prstGeom>
          <a:noFill/>
        </p:spPr>
        <p:txBody>
          <a:bodyPr wrap="square" lIns="0" rIns="0" tIns="0" bIns="0" anchor="t">
            <a:spAutoFit/>
          </a:bodyPr>
          <a:lstStyle/>
          <a:p>
            <a:pPr algn="l"/>
            <a:r>
              <a:rPr sz="1700" b="1" i="0">
                <a:solidFill>
                  <a:srgbClr val="14171C"/>
                </a:solidFill>
                <a:latin typeface="Cambria"/>
              </a:rPr>
              <a:t>Finance must know: is the money in the bank, is it counted once, and what is still due?</a:t>
            </a:r>
          </a:p>
        </p:txBody>
      </p:sp>
      <p:sp>
        <p:nvSpPr>
          <p:cNvPr id="34"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Scenario data is synthetic. Incident: thevibes.com (Sept 2025).</a:t>
            </a:r>
          </a:p>
        </p:txBody>
      </p:sp>
      <p:sp>
        <p:nvSpPr>
          <p:cNvPr id="35"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3/14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04 · THE GAP</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Today's tools start after the money is clean</a:t>
            </a:r>
          </a:p>
        </p:txBody>
      </p:sp>
      <p:sp>
        <p:nvSpPr>
          <p:cNvPr id="4" name="Subtitle"/>
          <p:cNvSpPr txBox="1"/>
          <p:nvPr/>
        </p:nvSpPr>
        <p:spPr>
          <a:xfrm>
            <a:off x="548640" y="1298448"/>
            <a:ext cx="11064240" cy="365760"/>
          </a:xfrm>
          <a:prstGeom prst="rect">
            <a:avLst/>
          </a:prstGeom>
          <a:noFill/>
        </p:spPr>
        <p:txBody>
          <a:bodyPr wrap="square" lIns="0" rIns="0" tIns="0" bIns="0" anchor="t">
            <a:spAutoFit/>
          </a:bodyPr>
          <a:lstStyle/>
          <a:p>
            <a:pPr algn="l"/>
            <a:r>
              <a:rPr sz="1600" b="0" i="0">
                <a:solidFill>
                  <a:srgbClr val="5B6066"/>
                </a:solidFill>
                <a:latin typeface="Calibri"/>
              </a:rPr>
              <a:t>Small firms' payment evidence arrives as WhatsApp messages and screenshots, not bank feeds and email</a:t>
            </a:r>
          </a:p>
        </p:txBody>
      </p:sp>
      <p:sp>
        <p:nvSpPr>
          <p:cNvPr id="5" name="Manual today"/>
          <p:cNvSpPr/>
          <p:nvPr/>
        </p:nvSpPr>
        <p:spPr>
          <a:xfrm>
            <a:off x="548640" y="1828800"/>
            <a:ext cx="3520440" cy="406908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029968"/>
            <a:ext cx="3017520" cy="457200"/>
          </a:xfrm>
          <a:prstGeom prst="rect">
            <a:avLst/>
          </a:prstGeom>
          <a:noFill/>
        </p:spPr>
        <p:txBody>
          <a:bodyPr wrap="square" lIns="0" rIns="0" tIns="0" bIns="0" anchor="t">
            <a:spAutoFit/>
          </a:bodyPr>
          <a:lstStyle/>
          <a:p>
            <a:pPr algn="l"/>
            <a:r>
              <a:rPr sz="1900" b="1" i="0">
                <a:solidFill>
                  <a:srgbClr val="14171C"/>
                </a:solidFill>
                <a:latin typeface="Cambria"/>
              </a:rPr>
              <a:t>Manual today</a:t>
            </a:r>
          </a:p>
        </p:txBody>
      </p:sp>
      <p:sp>
        <p:nvSpPr>
          <p:cNvPr id="7" name="TextBox 6"/>
          <p:cNvSpPr txBox="1"/>
          <p:nvPr/>
        </p:nvSpPr>
        <p:spPr>
          <a:xfrm>
            <a:off x="822959" y="2487168"/>
            <a:ext cx="3017520" cy="320040"/>
          </a:xfrm>
          <a:prstGeom prst="rect">
            <a:avLst/>
          </a:prstGeom>
          <a:noFill/>
        </p:spPr>
        <p:txBody>
          <a:bodyPr wrap="square" lIns="0" rIns="0" tIns="0" bIns="0" anchor="t">
            <a:spAutoFit/>
          </a:bodyPr>
          <a:lstStyle/>
          <a:p>
            <a:pPr algn="l"/>
            <a:r>
              <a:rPr sz="1300" b="0" i="1">
                <a:solidFill>
                  <a:srgbClr val="5B6066"/>
                </a:solidFill>
                <a:latin typeface="Calibri"/>
              </a:rPr>
              <a:t>Bank app + spreadsheet</a:t>
            </a:r>
          </a:p>
        </p:txBody>
      </p:sp>
      <p:sp>
        <p:nvSpPr>
          <p:cNvPr id="8" name="TextBox 7"/>
          <p:cNvSpPr txBox="1"/>
          <p:nvPr/>
        </p:nvSpPr>
        <p:spPr>
          <a:xfrm>
            <a:off x="822959" y="2971800"/>
            <a:ext cx="3017520" cy="2743200"/>
          </a:xfrm>
          <a:prstGeom prst="rect">
            <a:avLst/>
          </a:prstGeom>
          <a:noFill/>
        </p:spPr>
        <p:txBody>
          <a:bodyPr wrap="square" lIns="0" rIns="0" tIns="0" bIns="0" anchor="t">
            <a:spAutoFit/>
          </a:bodyPr>
          <a:lstStyle/>
          <a:p>
            <a:pPr algn="l" marL="201168" indent="-201168">
              <a:spcAft>
                <a:spcPts val="900"/>
              </a:spcAft>
              <a:buChar char="•"/>
            </a:pPr>
            <a:r>
              <a:rPr sz="1400" b="0" i="0">
                <a:solidFill>
                  <a:srgbClr val="14171C"/>
                </a:solidFill>
                <a:latin typeface="Calibri"/>
              </a:rPr>
              <a:t>Someone checks each screenshot by eye</a:t>
            </a:r>
          </a:p>
          <a:p>
            <a:pPr algn="l" marL="201168" indent="-201168">
              <a:spcAft>
                <a:spcPts val="900"/>
              </a:spcAft>
              <a:buChar char="•"/>
            </a:pPr>
            <a:r>
              <a:rPr sz="1400" b="0" i="0">
                <a:solidFill>
                  <a:srgbClr val="14171C"/>
                </a:solidFill>
                <a:latin typeface="Calibri"/>
              </a:rPr>
              <a:t>Partial payments are easy to mark as fully paid</a:t>
            </a:r>
          </a:p>
          <a:p>
            <a:pPr algn="l" marL="201168" indent="-201168">
              <a:spcAft>
                <a:spcPts val="900"/>
              </a:spcAft>
              <a:buChar char="•"/>
            </a:pPr>
            <a:r>
              <a:rPr sz="1400" b="0" i="0">
                <a:solidFill>
                  <a:srgbClr val="14171C"/>
                </a:solidFill>
                <a:latin typeface="Calibri"/>
              </a:rPr>
              <a:t>Promises get mixed with real cash</a:t>
            </a:r>
          </a:p>
          <a:p>
            <a:pPr algn="l" marL="201168" indent="-201168">
              <a:spcAft>
                <a:spcPts val="900"/>
              </a:spcAft>
              <a:buChar char="•"/>
            </a:pPr>
            <a:r>
              <a:rPr sz="1400" b="0" i="0">
                <a:solidFill>
                  <a:srgbClr val="14171C"/>
                </a:solidFill>
                <a:latin typeface="Calibri"/>
              </a:rPr>
              <a:t>No record of who decided what</a:t>
            </a:r>
          </a:p>
        </p:txBody>
      </p:sp>
      <p:sp>
        <p:nvSpPr>
          <p:cNvPr id="9" name="Existing finance tools"/>
          <p:cNvSpPr/>
          <p:nvPr/>
        </p:nvSpPr>
        <p:spPr>
          <a:xfrm>
            <a:off x="4297679" y="1828800"/>
            <a:ext cx="3520440" cy="406908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1999" y="2029968"/>
            <a:ext cx="3017520" cy="457200"/>
          </a:xfrm>
          <a:prstGeom prst="rect">
            <a:avLst/>
          </a:prstGeom>
          <a:noFill/>
        </p:spPr>
        <p:txBody>
          <a:bodyPr wrap="square" lIns="0" rIns="0" tIns="0" bIns="0" anchor="t">
            <a:spAutoFit/>
          </a:bodyPr>
          <a:lstStyle/>
          <a:p>
            <a:pPr algn="l"/>
            <a:r>
              <a:rPr sz="1900" b="1" i="0">
                <a:solidFill>
                  <a:srgbClr val="14171C"/>
                </a:solidFill>
                <a:latin typeface="Cambria"/>
              </a:rPr>
              <a:t>Existing finance tools</a:t>
            </a:r>
          </a:p>
        </p:txBody>
      </p:sp>
      <p:sp>
        <p:nvSpPr>
          <p:cNvPr id="11" name="TextBox 10"/>
          <p:cNvSpPr txBox="1"/>
          <p:nvPr/>
        </p:nvSpPr>
        <p:spPr>
          <a:xfrm>
            <a:off x="4571999" y="2487168"/>
            <a:ext cx="3017520" cy="320040"/>
          </a:xfrm>
          <a:prstGeom prst="rect">
            <a:avLst/>
          </a:prstGeom>
          <a:noFill/>
        </p:spPr>
        <p:txBody>
          <a:bodyPr wrap="square" lIns="0" rIns="0" tIns="0" bIns="0" anchor="t">
            <a:spAutoFit/>
          </a:bodyPr>
          <a:lstStyle/>
          <a:p>
            <a:pPr algn="l"/>
            <a:r>
              <a:rPr sz="1300" b="0" i="1">
                <a:solidFill>
                  <a:srgbClr val="5B6066"/>
                </a:solidFill>
                <a:latin typeface="Calibri"/>
              </a:rPr>
              <a:t>Strong on invoices and prediction</a:t>
            </a:r>
          </a:p>
        </p:txBody>
      </p:sp>
      <p:sp>
        <p:nvSpPr>
          <p:cNvPr id="12" name="TextBox 11"/>
          <p:cNvSpPr txBox="1"/>
          <p:nvPr/>
        </p:nvSpPr>
        <p:spPr>
          <a:xfrm>
            <a:off x="4571999" y="2971800"/>
            <a:ext cx="3017520" cy="2743200"/>
          </a:xfrm>
          <a:prstGeom prst="rect">
            <a:avLst/>
          </a:prstGeom>
          <a:noFill/>
        </p:spPr>
        <p:txBody>
          <a:bodyPr wrap="square" lIns="0" rIns="0" tIns="0" bIns="0" anchor="t">
            <a:spAutoFit/>
          </a:bodyPr>
          <a:lstStyle/>
          <a:p>
            <a:pPr algn="l" marL="201168" indent="-201168">
              <a:spcAft>
                <a:spcPts val="900"/>
              </a:spcAft>
              <a:buChar char="•"/>
            </a:pPr>
            <a:r>
              <a:rPr sz="1400" b="0" i="0">
                <a:solidFill>
                  <a:srgbClr val="14171C"/>
                </a:solidFill>
                <a:latin typeface="Calibri"/>
              </a:rPr>
              <a:t>QuickBooks predicts when customers will pay, from their history (Intuit)</a:t>
            </a:r>
          </a:p>
          <a:p>
            <a:pPr algn="l" marL="201168" indent="-201168">
              <a:spcAft>
                <a:spcPts val="900"/>
              </a:spcAft>
              <a:buChar char="•"/>
            </a:pPr>
            <a:r>
              <a:rPr sz="1400" b="0" i="0">
                <a:solidFill>
                  <a:srgbClr val="14171C"/>
                </a:solidFill>
                <a:latin typeface="Calibri"/>
              </a:rPr>
              <a:t>Chaser's AI reads debtor email replies and drafts answers (Chaser)</a:t>
            </a:r>
          </a:p>
          <a:p>
            <a:pPr algn="l" marL="201168" indent="-201168">
              <a:spcAft>
                <a:spcPts val="900"/>
              </a:spcAft>
              <a:buChar char="•"/>
            </a:pPr>
            <a:r>
              <a:rPr sz="1400" b="0" i="0">
                <a:solidFill>
                  <a:srgbClr val="14171C"/>
                </a:solidFill>
                <a:latin typeface="Calibri"/>
              </a:rPr>
              <a:t>Built around bank feeds and email inboxes</a:t>
            </a:r>
          </a:p>
        </p:txBody>
      </p:sp>
      <p:sp>
        <p:nvSpPr>
          <p:cNvPr id="13" name="Milestone2Cash"/>
          <p:cNvSpPr/>
          <p:nvPr/>
        </p:nvSpPr>
        <p:spPr>
          <a:xfrm>
            <a:off x="8046719" y="1828800"/>
            <a:ext cx="3520440" cy="4069080"/>
          </a:xfrm>
          <a:prstGeom prst="roundRect">
            <a:avLst>
              <a:gd name="adj" fmla="val 6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029968"/>
            <a:ext cx="3017520" cy="457200"/>
          </a:xfrm>
          <a:prstGeom prst="rect">
            <a:avLst/>
          </a:prstGeom>
          <a:noFill/>
        </p:spPr>
        <p:txBody>
          <a:bodyPr wrap="square" lIns="0" rIns="0" tIns="0" bIns="0" anchor="t">
            <a:spAutoFit/>
          </a:bodyPr>
          <a:lstStyle/>
          <a:p>
            <a:pPr algn="l"/>
            <a:r>
              <a:rPr sz="1900" b="1" i="0">
                <a:solidFill>
                  <a:srgbClr val="1B7A50"/>
                </a:solidFill>
                <a:latin typeface="Cambria"/>
              </a:rPr>
              <a:t>Milestone2Cash</a:t>
            </a:r>
          </a:p>
        </p:txBody>
      </p:sp>
      <p:sp>
        <p:nvSpPr>
          <p:cNvPr id="15" name="TextBox 14"/>
          <p:cNvSpPr txBox="1"/>
          <p:nvPr/>
        </p:nvSpPr>
        <p:spPr>
          <a:xfrm>
            <a:off x="8321040" y="2487168"/>
            <a:ext cx="3017520" cy="320040"/>
          </a:xfrm>
          <a:prstGeom prst="rect">
            <a:avLst/>
          </a:prstGeom>
          <a:noFill/>
        </p:spPr>
        <p:txBody>
          <a:bodyPr wrap="square" lIns="0" rIns="0" tIns="0" bIns="0" anchor="t">
            <a:spAutoFit/>
          </a:bodyPr>
          <a:lstStyle/>
          <a:p>
            <a:pPr algn="l"/>
            <a:r>
              <a:rPr sz="1300" b="0" i="1">
                <a:solidFill>
                  <a:srgbClr val="5B6066"/>
                </a:solidFill>
                <a:latin typeface="Calibri"/>
              </a:rPr>
              <a:t>Starts where the evidence arrives</a:t>
            </a:r>
          </a:p>
        </p:txBody>
      </p:sp>
      <p:sp>
        <p:nvSpPr>
          <p:cNvPr id="16" name="TextBox 15"/>
          <p:cNvSpPr txBox="1"/>
          <p:nvPr/>
        </p:nvSpPr>
        <p:spPr>
          <a:xfrm>
            <a:off x="8321040" y="2971800"/>
            <a:ext cx="3017520" cy="2743200"/>
          </a:xfrm>
          <a:prstGeom prst="rect">
            <a:avLst/>
          </a:prstGeom>
          <a:noFill/>
        </p:spPr>
        <p:txBody>
          <a:bodyPr wrap="square" lIns="0" rIns="0" tIns="0" bIns="0" anchor="t">
            <a:spAutoFit/>
          </a:bodyPr>
          <a:lstStyle/>
          <a:p>
            <a:pPr algn="l" marL="201168" indent="-201168">
              <a:spcAft>
                <a:spcPts val="900"/>
              </a:spcAft>
              <a:buChar char="•"/>
            </a:pPr>
            <a:r>
              <a:rPr sz="1400" b="0" i="0">
                <a:solidFill>
                  <a:srgbClr val="14171C"/>
                </a:solidFill>
                <a:latin typeface="Calibri"/>
              </a:rPr>
              <a:t>Reads the WhatsApp reply and transfer screenshot (EN, 中文, BM)</a:t>
            </a:r>
          </a:p>
          <a:p>
            <a:pPr algn="l" marL="201168" indent="-201168">
              <a:spcAft>
                <a:spcPts val="900"/>
              </a:spcAft>
              <a:buChar char="•"/>
            </a:pPr>
            <a:r>
              <a:rPr sz="1400" b="0" i="0">
                <a:solidFill>
                  <a:srgbClr val="14171C"/>
                </a:solidFill>
                <a:latin typeface="Calibri"/>
              </a:rPr>
              <a:t>Checks the claim against bank credits before it counts</a:t>
            </a:r>
          </a:p>
          <a:p>
            <a:pPr algn="l" marL="201168" indent="-201168">
              <a:spcAft>
                <a:spcPts val="900"/>
              </a:spcAft>
              <a:buChar char="•"/>
            </a:pPr>
            <a:r>
              <a:rPr sz="1400" b="0" i="0">
                <a:solidFill>
                  <a:srgbClr val="14171C"/>
                </a:solidFill>
                <a:latin typeface="Calibri"/>
              </a:rPr>
              <a:t>Keeps the remainder and promises separate from cash</a:t>
            </a:r>
          </a:p>
          <a:p>
            <a:pPr algn="l" marL="201168" indent="-201168">
              <a:spcAft>
                <a:spcPts val="900"/>
              </a:spcAft>
              <a:buChar char="•"/>
            </a:pPr>
            <a:r>
              <a:rPr sz="1400" b="0" i="0">
                <a:solidFill>
                  <a:srgbClr val="14171C"/>
                </a:solidFill>
                <a:latin typeface="Calibri"/>
              </a:rPr>
              <a:t>Every decision logged</a:t>
            </a:r>
          </a:p>
        </p:txBody>
      </p:sp>
      <p:sp>
        <p:nvSpPr>
          <p:cNvPr id="17"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QuickBooks: Intuit Cash Flow Planner help page · Chaser: chaserhq.com AI email generator. We do not claim other tools lack features we have not verified.</a:t>
            </a:r>
          </a:p>
        </p:txBody>
      </p:sp>
      <p:sp>
        <p:nvSpPr>
          <p:cNvPr id="18"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4/14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05 · OUR SOLUTION</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One reviewed path from finished work to cash</a:t>
            </a:r>
          </a:p>
        </p:txBody>
      </p:sp>
      <p:sp>
        <p:nvSpPr>
          <p:cNvPr id="4" name="Subtitle"/>
          <p:cNvSpPr txBox="1"/>
          <p:nvPr/>
        </p:nvSpPr>
        <p:spPr>
          <a:xfrm>
            <a:off x="548640" y="1298448"/>
            <a:ext cx="11064240" cy="365760"/>
          </a:xfrm>
          <a:prstGeom prst="rect">
            <a:avLst/>
          </a:prstGeom>
          <a:noFill/>
        </p:spPr>
        <p:txBody>
          <a:bodyPr wrap="square" lIns="0" rIns="0" tIns="0" bIns="0" anchor="t">
            <a:spAutoFit/>
          </a:bodyPr>
          <a:lstStyle/>
          <a:p>
            <a:pPr algn="l"/>
            <a:r>
              <a:rPr sz="1600" b="0" i="0">
                <a:solidFill>
                  <a:srgbClr val="5B6066"/>
                </a:solidFill>
                <a:latin typeface="Calibri"/>
              </a:rPr>
              <a:t>Every step names who acts. Nothing that touches money happens without a person approving it.</a:t>
            </a:r>
          </a:p>
        </p:txBody>
      </p:sp>
      <p:sp>
        <p:nvSpPr>
          <p:cNvPr id="5" name="TextBox 4"/>
          <p:cNvSpPr txBox="1"/>
          <p:nvPr/>
        </p:nvSpPr>
        <p:spPr>
          <a:xfrm>
            <a:off x="548640" y="1874519"/>
            <a:ext cx="2377440" cy="822960"/>
          </a:xfrm>
          <a:prstGeom prst="rect">
            <a:avLst/>
          </a:prstGeom>
          <a:noFill/>
        </p:spPr>
        <p:txBody>
          <a:bodyPr wrap="square" lIns="0" rIns="0" tIns="0" bIns="0" anchor="t">
            <a:spAutoFit/>
          </a:bodyPr>
          <a:lstStyle/>
          <a:p>
            <a:pPr algn="l"/>
            <a:r>
              <a:rPr sz="4800" b="1" i="0">
                <a:solidFill>
                  <a:srgbClr val="1B7A50"/>
                </a:solidFill>
                <a:latin typeface="Cambria"/>
              </a:rPr>
              <a:t>01</a:t>
            </a:r>
          </a:p>
        </p:txBody>
      </p:sp>
      <p:cxnSp>
        <p:nvCxnSpPr>
          <p:cNvPr id="6" name="Connector 5"/>
          <p:cNvCxnSpPr/>
          <p:nvPr/>
        </p:nvCxnSpPr>
        <p:spPr>
          <a:xfrm>
            <a:off x="1783080" y="2286000"/>
            <a:ext cx="1371600" cy="0"/>
          </a:xfrm>
          <a:prstGeom prst="line">
            <a:avLst/>
          </a:prstGeom>
          <a:ln w="19050">
            <a:solidFill>
              <a:srgbClr val="D8D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788920"/>
            <a:ext cx="2514600" cy="457200"/>
          </a:xfrm>
          <a:prstGeom prst="rect">
            <a:avLst/>
          </a:prstGeom>
          <a:noFill/>
        </p:spPr>
        <p:txBody>
          <a:bodyPr wrap="square" lIns="0" rIns="0" tIns="0" bIns="0" anchor="t">
            <a:spAutoFit/>
          </a:bodyPr>
          <a:lstStyle/>
          <a:p>
            <a:pPr algn="l"/>
            <a:r>
              <a:rPr sz="1900" b="1" i="0">
                <a:solidFill>
                  <a:srgbClr val="14171C"/>
                </a:solidFill>
                <a:latin typeface="Cambria"/>
              </a:rPr>
              <a:t>Milestone done</a:t>
            </a:r>
          </a:p>
        </p:txBody>
      </p:sp>
      <p:sp>
        <p:nvSpPr>
          <p:cNvPr id="8" name="TextBox 7"/>
          <p:cNvSpPr txBox="1"/>
          <p:nvPr/>
        </p:nvSpPr>
        <p:spPr>
          <a:xfrm>
            <a:off x="548640" y="3291840"/>
            <a:ext cx="2468880" cy="685800"/>
          </a:xfrm>
          <a:prstGeom prst="rect">
            <a:avLst/>
          </a:prstGeom>
          <a:noFill/>
        </p:spPr>
        <p:txBody>
          <a:bodyPr wrap="square" lIns="0" rIns="0" tIns="0" bIns="0" anchor="t">
            <a:spAutoFit/>
          </a:bodyPr>
          <a:lstStyle/>
          <a:p>
            <a:pPr algn="l"/>
            <a:r>
              <a:rPr sz="1400" b="0" i="0">
                <a:solidFill>
                  <a:srgbClr val="14171C"/>
                </a:solidFill>
                <a:latin typeface="Calibri"/>
              </a:rPr>
              <a:t>Invoice draft from the payment schedule</a:t>
            </a:r>
          </a:p>
        </p:txBody>
      </p:sp>
      <p:cxnSp>
        <p:nvCxnSpPr>
          <p:cNvPr id="9" name="Connector 8"/>
          <p:cNvCxnSpPr/>
          <p:nvPr/>
        </p:nvCxnSpPr>
        <p:spPr>
          <a:xfrm>
            <a:off x="548640" y="4069080"/>
            <a:ext cx="2468880" cy="0"/>
          </a:xfrm>
          <a:prstGeom prst="line">
            <a:avLst/>
          </a:prstGeom>
          <a:ln w="12700">
            <a:solidFill>
              <a:srgbClr val="D8DBD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4187952"/>
            <a:ext cx="2468880" cy="274320"/>
          </a:xfrm>
          <a:prstGeom prst="rect">
            <a:avLst/>
          </a:prstGeom>
          <a:noFill/>
        </p:spPr>
        <p:txBody>
          <a:bodyPr wrap="square" lIns="0" rIns="0" tIns="0" bIns="0" anchor="t">
            <a:spAutoFit/>
          </a:bodyPr>
          <a:lstStyle/>
          <a:p>
            <a:pPr algn="l"/>
            <a:r>
              <a:rPr sz="1000" b="1" i="0">
                <a:solidFill>
                  <a:srgbClr val="5B6066"/>
                </a:solidFill>
                <a:latin typeface="Calibri"/>
              </a:rPr>
              <a:t>WHO DECIDES</a:t>
            </a:r>
          </a:p>
        </p:txBody>
      </p:sp>
      <p:sp>
        <p:nvSpPr>
          <p:cNvPr id="11" name="TextBox 10"/>
          <p:cNvSpPr txBox="1"/>
          <p:nvPr/>
        </p:nvSpPr>
        <p:spPr>
          <a:xfrm>
            <a:off x="548640" y="4443984"/>
            <a:ext cx="2468880" cy="548640"/>
          </a:xfrm>
          <a:prstGeom prst="rect">
            <a:avLst/>
          </a:prstGeom>
          <a:noFill/>
        </p:spPr>
        <p:txBody>
          <a:bodyPr wrap="square" lIns="0" rIns="0" tIns="0" bIns="0" anchor="t">
            <a:spAutoFit/>
          </a:bodyPr>
          <a:lstStyle/>
          <a:p>
            <a:pPr algn="l"/>
            <a:r>
              <a:rPr sz="1400" b="1" i="0">
                <a:solidFill>
                  <a:srgbClr val="1B7A50"/>
                </a:solidFill>
                <a:latin typeface="Calibri"/>
              </a:rPr>
              <a:t>Owner approves</a:t>
            </a:r>
          </a:p>
        </p:txBody>
      </p:sp>
      <p:sp>
        <p:nvSpPr>
          <p:cNvPr id="12" name="TextBox 11"/>
          <p:cNvSpPr txBox="1"/>
          <p:nvPr/>
        </p:nvSpPr>
        <p:spPr>
          <a:xfrm>
            <a:off x="3383280" y="1874519"/>
            <a:ext cx="2377440" cy="822960"/>
          </a:xfrm>
          <a:prstGeom prst="rect">
            <a:avLst/>
          </a:prstGeom>
          <a:noFill/>
        </p:spPr>
        <p:txBody>
          <a:bodyPr wrap="square" lIns="0" rIns="0" tIns="0" bIns="0" anchor="t">
            <a:spAutoFit/>
          </a:bodyPr>
          <a:lstStyle/>
          <a:p>
            <a:pPr algn="l"/>
            <a:r>
              <a:rPr sz="4800" b="1" i="0">
                <a:solidFill>
                  <a:srgbClr val="B85C14"/>
                </a:solidFill>
                <a:latin typeface="Cambria"/>
              </a:rPr>
              <a:t>02</a:t>
            </a:r>
          </a:p>
        </p:txBody>
      </p:sp>
      <p:cxnSp>
        <p:nvCxnSpPr>
          <p:cNvPr id="13" name="Connector 12"/>
          <p:cNvCxnSpPr/>
          <p:nvPr/>
        </p:nvCxnSpPr>
        <p:spPr>
          <a:xfrm>
            <a:off x="4617720" y="2286000"/>
            <a:ext cx="1371600" cy="0"/>
          </a:xfrm>
          <a:prstGeom prst="line">
            <a:avLst/>
          </a:prstGeom>
          <a:ln w="19050">
            <a:solidFill>
              <a:srgbClr val="D8D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383280" y="2788920"/>
            <a:ext cx="2514600" cy="457200"/>
          </a:xfrm>
          <a:prstGeom prst="rect">
            <a:avLst/>
          </a:prstGeom>
          <a:noFill/>
        </p:spPr>
        <p:txBody>
          <a:bodyPr wrap="square" lIns="0" rIns="0" tIns="0" bIns="0" anchor="t">
            <a:spAutoFit/>
          </a:bodyPr>
          <a:lstStyle/>
          <a:p>
            <a:pPr algn="l"/>
            <a:r>
              <a:rPr sz="1900" b="1" i="0">
                <a:solidFill>
                  <a:srgbClr val="14171C"/>
                </a:solidFill>
                <a:latin typeface="Cambria"/>
              </a:rPr>
              <a:t>Follow up</a:t>
            </a:r>
          </a:p>
        </p:txBody>
      </p:sp>
      <p:sp>
        <p:nvSpPr>
          <p:cNvPr id="15" name="TextBox 14"/>
          <p:cNvSpPr txBox="1"/>
          <p:nvPr/>
        </p:nvSpPr>
        <p:spPr>
          <a:xfrm>
            <a:off x="3383280" y="3291840"/>
            <a:ext cx="2468880" cy="685800"/>
          </a:xfrm>
          <a:prstGeom prst="rect">
            <a:avLst/>
          </a:prstGeom>
          <a:noFill/>
        </p:spPr>
        <p:txBody>
          <a:bodyPr wrap="square" lIns="0" rIns="0" tIns="0" bIns="0" anchor="t">
            <a:spAutoFit/>
          </a:bodyPr>
          <a:lstStyle/>
          <a:p>
            <a:pPr algn="l"/>
            <a:r>
              <a:rPr sz="1400" b="0" i="0">
                <a:solidFill>
                  <a:srgbClr val="14171C"/>
                </a:solidFill>
                <a:latin typeface="Calibri"/>
              </a:rPr>
              <a:t>Reminder drafted in the client's language</a:t>
            </a:r>
          </a:p>
        </p:txBody>
      </p:sp>
      <p:cxnSp>
        <p:nvCxnSpPr>
          <p:cNvPr id="16" name="Connector 15"/>
          <p:cNvCxnSpPr/>
          <p:nvPr/>
        </p:nvCxnSpPr>
        <p:spPr>
          <a:xfrm>
            <a:off x="3383280" y="4069080"/>
            <a:ext cx="2468880" cy="0"/>
          </a:xfrm>
          <a:prstGeom prst="line">
            <a:avLst/>
          </a:prstGeom>
          <a:ln w="12700">
            <a:solidFill>
              <a:srgbClr val="D8DBD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383280" y="4187952"/>
            <a:ext cx="2468880" cy="274320"/>
          </a:xfrm>
          <a:prstGeom prst="rect">
            <a:avLst/>
          </a:prstGeom>
          <a:noFill/>
        </p:spPr>
        <p:txBody>
          <a:bodyPr wrap="square" lIns="0" rIns="0" tIns="0" bIns="0" anchor="t">
            <a:spAutoFit/>
          </a:bodyPr>
          <a:lstStyle/>
          <a:p>
            <a:pPr algn="l"/>
            <a:r>
              <a:rPr sz="1000" b="1" i="0">
                <a:solidFill>
                  <a:srgbClr val="5B6066"/>
                </a:solidFill>
                <a:latin typeface="Calibri"/>
              </a:rPr>
              <a:t>WHO DECIDES</a:t>
            </a:r>
          </a:p>
        </p:txBody>
      </p:sp>
      <p:sp>
        <p:nvSpPr>
          <p:cNvPr id="18" name="TextBox 17"/>
          <p:cNvSpPr txBox="1"/>
          <p:nvPr/>
        </p:nvSpPr>
        <p:spPr>
          <a:xfrm>
            <a:off x="3383280" y="4443984"/>
            <a:ext cx="2468880" cy="548640"/>
          </a:xfrm>
          <a:prstGeom prst="rect">
            <a:avLst/>
          </a:prstGeom>
          <a:noFill/>
        </p:spPr>
        <p:txBody>
          <a:bodyPr wrap="square" lIns="0" rIns="0" tIns="0" bIns="0" anchor="t">
            <a:spAutoFit/>
          </a:bodyPr>
          <a:lstStyle/>
          <a:p>
            <a:pPr algn="l"/>
            <a:r>
              <a:rPr sz="1400" b="1" i="0">
                <a:solidFill>
                  <a:srgbClr val="B85C14"/>
                </a:solidFill>
                <a:latin typeface="Calibri"/>
              </a:rPr>
              <a:t>Finance confirms the send (simulated)</a:t>
            </a:r>
          </a:p>
        </p:txBody>
      </p:sp>
      <p:sp>
        <p:nvSpPr>
          <p:cNvPr id="19" name="TextBox 18"/>
          <p:cNvSpPr txBox="1"/>
          <p:nvPr/>
        </p:nvSpPr>
        <p:spPr>
          <a:xfrm>
            <a:off x="6217920" y="1874519"/>
            <a:ext cx="2377440" cy="822960"/>
          </a:xfrm>
          <a:prstGeom prst="rect">
            <a:avLst/>
          </a:prstGeom>
          <a:noFill/>
        </p:spPr>
        <p:txBody>
          <a:bodyPr wrap="square" lIns="0" rIns="0" tIns="0" bIns="0" anchor="t">
            <a:spAutoFit/>
          </a:bodyPr>
          <a:lstStyle/>
          <a:p>
            <a:pPr algn="l"/>
            <a:r>
              <a:rPr sz="4800" b="1" i="0">
                <a:solidFill>
                  <a:srgbClr val="1B7A50"/>
                </a:solidFill>
                <a:latin typeface="Cambria"/>
              </a:rPr>
              <a:t>03</a:t>
            </a:r>
          </a:p>
        </p:txBody>
      </p:sp>
      <p:cxnSp>
        <p:nvCxnSpPr>
          <p:cNvPr id="20" name="Connector 19"/>
          <p:cNvCxnSpPr/>
          <p:nvPr/>
        </p:nvCxnSpPr>
        <p:spPr>
          <a:xfrm>
            <a:off x="7452360" y="2286000"/>
            <a:ext cx="1371600" cy="0"/>
          </a:xfrm>
          <a:prstGeom prst="line">
            <a:avLst/>
          </a:prstGeom>
          <a:ln w="19050">
            <a:solidFill>
              <a:srgbClr val="D8DB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217920" y="2788920"/>
            <a:ext cx="2514600" cy="457200"/>
          </a:xfrm>
          <a:prstGeom prst="rect">
            <a:avLst/>
          </a:prstGeom>
          <a:noFill/>
        </p:spPr>
        <p:txBody>
          <a:bodyPr wrap="square" lIns="0" rIns="0" tIns="0" bIns="0" anchor="t">
            <a:spAutoFit/>
          </a:bodyPr>
          <a:lstStyle/>
          <a:p>
            <a:pPr algn="l"/>
            <a:r>
              <a:rPr sz="1900" b="1" i="0">
                <a:solidFill>
                  <a:srgbClr val="14171C"/>
                </a:solidFill>
                <a:latin typeface="Cambria"/>
              </a:rPr>
              <a:t>Read the evidence</a:t>
            </a:r>
          </a:p>
        </p:txBody>
      </p:sp>
      <p:sp>
        <p:nvSpPr>
          <p:cNvPr id="22" name="TextBox 21"/>
          <p:cNvSpPr txBox="1"/>
          <p:nvPr/>
        </p:nvSpPr>
        <p:spPr>
          <a:xfrm>
            <a:off x="6217920" y="3291840"/>
            <a:ext cx="2468880" cy="685800"/>
          </a:xfrm>
          <a:prstGeom prst="rect">
            <a:avLst/>
          </a:prstGeom>
          <a:noFill/>
        </p:spPr>
        <p:txBody>
          <a:bodyPr wrap="square" lIns="0" rIns="0" tIns="0" bIns="0" anchor="t">
            <a:spAutoFit/>
          </a:bodyPr>
          <a:lstStyle/>
          <a:p>
            <a:pPr algn="l"/>
            <a:r>
              <a:rPr sz="1400" b="0" i="0">
                <a:solidFill>
                  <a:srgbClr val="14171C"/>
                </a:solidFill>
                <a:latin typeface="Calibri"/>
              </a:rPr>
              <a:t>Local OCR + AI read the reply and screenshot</a:t>
            </a:r>
          </a:p>
        </p:txBody>
      </p:sp>
      <p:cxnSp>
        <p:nvCxnSpPr>
          <p:cNvPr id="23" name="Connector 22"/>
          <p:cNvCxnSpPr/>
          <p:nvPr/>
        </p:nvCxnSpPr>
        <p:spPr>
          <a:xfrm>
            <a:off x="6217920" y="4069080"/>
            <a:ext cx="2468880" cy="0"/>
          </a:xfrm>
          <a:prstGeom prst="line">
            <a:avLst/>
          </a:prstGeom>
          <a:ln w="12700">
            <a:solidFill>
              <a:srgbClr val="D8DBD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217920" y="4187952"/>
            <a:ext cx="2468880" cy="274320"/>
          </a:xfrm>
          <a:prstGeom prst="rect">
            <a:avLst/>
          </a:prstGeom>
          <a:noFill/>
        </p:spPr>
        <p:txBody>
          <a:bodyPr wrap="square" lIns="0" rIns="0" tIns="0" bIns="0" anchor="t">
            <a:spAutoFit/>
          </a:bodyPr>
          <a:lstStyle/>
          <a:p>
            <a:pPr algn="l"/>
            <a:r>
              <a:rPr sz="1000" b="1" i="0">
                <a:solidFill>
                  <a:srgbClr val="5B6066"/>
                </a:solidFill>
                <a:latin typeface="Calibri"/>
              </a:rPr>
              <a:t>WHO DECIDES</a:t>
            </a:r>
          </a:p>
        </p:txBody>
      </p:sp>
      <p:sp>
        <p:nvSpPr>
          <p:cNvPr id="25" name="TextBox 24"/>
          <p:cNvSpPr txBox="1"/>
          <p:nvPr/>
        </p:nvSpPr>
        <p:spPr>
          <a:xfrm>
            <a:off x="6217920" y="4443984"/>
            <a:ext cx="2468880" cy="548640"/>
          </a:xfrm>
          <a:prstGeom prst="rect">
            <a:avLst/>
          </a:prstGeom>
          <a:noFill/>
        </p:spPr>
        <p:txBody>
          <a:bodyPr wrap="square" lIns="0" rIns="0" tIns="0" bIns="0" anchor="t">
            <a:spAutoFit/>
          </a:bodyPr>
          <a:lstStyle/>
          <a:p>
            <a:pPr algn="l"/>
            <a:r>
              <a:rPr sz="1400" b="1" i="0">
                <a:solidFill>
                  <a:srgbClr val="1B7A50"/>
                </a:solidFill>
                <a:latin typeface="Calibri"/>
              </a:rPr>
              <a:t>Unsure? It goes to a person</a:t>
            </a:r>
          </a:p>
        </p:txBody>
      </p:sp>
      <p:sp>
        <p:nvSpPr>
          <p:cNvPr id="26" name="TextBox 25"/>
          <p:cNvSpPr txBox="1"/>
          <p:nvPr/>
        </p:nvSpPr>
        <p:spPr>
          <a:xfrm>
            <a:off x="9052560" y="1874519"/>
            <a:ext cx="2377440" cy="822960"/>
          </a:xfrm>
          <a:prstGeom prst="rect">
            <a:avLst/>
          </a:prstGeom>
          <a:noFill/>
        </p:spPr>
        <p:txBody>
          <a:bodyPr wrap="square" lIns="0" rIns="0" tIns="0" bIns="0" anchor="t">
            <a:spAutoFit/>
          </a:bodyPr>
          <a:lstStyle/>
          <a:p>
            <a:pPr algn="l"/>
            <a:r>
              <a:rPr sz="4800" b="1" i="0">
                <a:solidFill>
                  <a:srgbClr val="B85C14"/>
                </a:solidFill>
                <a:latin typeface="Cambria"/>
              </a:rPr>
              <a:t>04</a:t>
            </a:r>
          </a:p>
        </p:txBody>
      </p:sp>
      <p:sp>
        <p:nvSpPr>
          <p:cNvPr id="27" name="TextBox 26"/>
          <p:cNvSpPr txBox="1"/>
          <p:nvPr/>
        </p:nvSpPr>
        <p:spPr>
          <a:xfrm>
            <a:off x="9052560" y="2788920"/>
            <a:ext cx="2514600" cy="457200"/>
          </a:xfrm>
          <a:prstGeom prst="rect">
            <a:avLst/>
          </a:prstGeom>
          <a:noFill/>
        </p:spPr>
        <p:txBody>
          <a:bodyPr wrap="square" lIns="0" rIns="0" tIns="0" bIns="0" anchor="t">
            <a:spAutoFit/>
          </a:bodyPr>
          <a:lstStyle/>
          <a:p>
            <a:pPr algn="l"/>
            <a:r>
              <a:rPr sz="1900" b="1" i="0">
                <a:solidFill>
                  <a:srgbClr val="14171C"/>
                </a:solidFill>
                <a:latin typeface="Cambria"/>
              </a:rPr>
              <a:t>Check and record</a:t>
            </a:r>
          </a:p>
        </p:txBody>
      </p:sp>
      <p:sp>
        <p:nvSpPr>
          <p:cNvPr id="28" name="TextBox 27"/>
          <p:cNvSpPr txBox="1"/>
          <p:nvPr/>
        </p:nvSpPr>
        <p:spPr>
          <a:xfrm>
            <a:off x="9052560" y="3291840"/>
            <a:ext cx="2468880" cy="685800"/>
          </a:xfrm>
          <a:prstGeom prst="rect">
            <a:avLst/>
          </a:prstGeom>
          <a:noFill/>
        </p:spPr>
        <p:txBody>
          <a:bodyPr wrap="square" lIns="0" rIns="0" tIns="0" bIns="0" anchor="t">
            <a:spAutoFit/>
          </a:bodyPr>
          <a:lstStyle/>
          <a:p>
            <a:pPr algn="l"/>
            <a:r>
              <a:rPr sz="1400" b="0" i="0">
                <a:solidFill>
                  <a:srgbClr val="14171C"/>
                </a:solidFill>
                <a:latin typeface="Calibri"/>
              </a:rPr>
              <a:t>Rules match the claim to bank credits</a:t>
            </a:r>
          </a:p>
        </p:txBody>
      </p:sp>
      <p:cxnSp>
        <p:nvCxnSpPr>
          <p:cNvPr id="29" name="Connector 28"/>
          <p:cNvCxnSpPr/>
          <p:nvPr/>
        </p:nvCxnSpPr>
        <p:spPr>
          <a:xfrm>
            <a:off x="9052560" y="4069080"/>
            <a:ext cx="2468880" cy="0"/>
          </a:xfrm>
          <a:prstGeom prst="line">
            <a:avLst/>
          </a:prstGeom>
          <a:ln w="12700">
            <a:solidFill>
              <a:srgbClr val="D8DBD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052560" y="4187952"/>
            <a:ext cx="2468880" cy="274320"/>
          </a:xfrm>
          <a:prstGeom prst="rect">
            <a:avLst/>
          </a:prstGeom>
          <a:noFill/>
        </p:spPr>
        <p:txBody>
          <a:bodyPr wrap="square" lIns="0" rIns="0" tIns="0" bIns="0" anchor="t">
            <a:spAutoFit/>
          </a:bodyPr>
          <a:lstStyle/>
          <a:p>
            <a:pPr algn="l"/>
            <a:r>
              <a:rPr sz="1000" b="1" i="0">
                <a:solidFill>
                  <a:srgbClr val="5B6066"/>
                </a:solidFill>
                <a:latin typeface="Calibri"/>
              </a:rPr>
              <a:t>WHO DECIDES</a:t>
            </a:r>
          </a:p>
        </p:txBody>
      </p:sp>
      <p:sp>
        <p:nvSpPr>
          <p:cNvPr id="31" name="TextBox 30"/>
          <p:cNvSpPr txBox="1"/>
          <p:nvPr/>
        </p:nvSpPr>
        <p:spPr>
          <a:xfrm>
            <a:off x="9052560" y="4443984"/>
            <a:ext cx="2468880" cy="548640"/>
          </a:xfrm>
          <a:prstGeom prst="rect">
            <a:avLst/>
          </a:prstGeom>
          <a:noFill/>
        </p:spPr>
        <p:txBody>
          <a:bodyPr wrap="square" lIns="0" rIns="0" tIns="0" bIns="0" anchor="t">
            <a:spAutoFit/>
          </a:bodyPr>
          <a:lstStyle/>
          <a:p>
            <a:pPr algn="l"/>
            <a:r>
              <a:rPr sz="1400" b="1" i="0">
                <a:solidFill>
                  <a:srgbClr val="B85C14"/>
                </a:solidFill>
                <a:latin typeface="Calibri"/>
              </a:rPr>
              <a:t>Finance approves the payment</a:t>
            </a:r>
          </a:p>
        </p:txBody>
      </p:sp>
      <p:sp>
        <p:nvSpPr>
          <p:cNvPr id="32" name="Principle"/>
          <p:cNvSpPr/>
          <p:nvPr/>
        </p:nvSpPr>
        <p:spPr>
          <a:xfrm>
            <a:off x="548640" y="5257800"/>
            <a:ext cx="11091672" cy="777240"/>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5257800"/>
            <a:ext cx="11091672" cy="777240"/>
          </a:xfrm>
          <a:prstGeom prst="rect">
            <a:avLst/>
          </a:prstGeom>
          <a:noFill/>
        </p:spPr>
        <p:txBody>
          <a:bodyPr wrap="square" lIns="0" rIns="0" tIns="0" bIns="0" anchor="ctr">
            <a:spAutoFit/>
          </a:bodyPr>
          <a:lstStyle/>
          <a:p>
            <a:pPr algn="ctr"/>
            <a:r>
              <a:rPr sz="2400" b="1" i="0">
                <a:solidFill>
                  <a:srgbClr val="8FD6B0"/>
                </a:solidFill>
                <a:latin typeface="Cambria"/>
              </a:rPr>
              <a:t>AI helps read.   </a:t>
            </a:r>
            <a:r>
              <a:rPr sz="2400" b="1" i="0">
                <a:solidFill>
                  <a:srgbClr val="F2B273"/>
                </a:solidFill>
                <a:latin typeface="Cambria"/>
              </a:rPr>
              <a:t>Rules check.   </a:t>
            </a:r>
            <a:r>
              <a:rPr sz="2400" b="1" i="0">
                <a:solidFill>
                  <a:srgbClr val="FFFFFF"/>
                </a:solidFill>
                <a:latin typeface="Cambria"/>
              </a:rPr>
              <a:t>Your team decides.</a:t>
            </a:r>
          </a:p>
        </p:txBody>
      </p:sp>
      <p:sp>
        <p:nvSpPr>
          <p:cNvPr id="34"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Then: partial payments keep the remainder collectible, promises move expected dates, every action is logged.</a:t>
            </a:r>
          </a:p>
        </p:txBody>
      </p:sp>
      <p:sp>
        <p:nvSpPr>
          <p:cNvPr id="35"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5/14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06 · WHAT THE BUSINESS GETS</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Safer decisions, less manual work, clearer cash</a:t>
            </a:r>
          </a:p>
        </p:txBody>
      </p:sp>
      <p:sp>
        <p:nvSpPr>
          <p:cNvPr id="4" name="Subtitle"/>
          <p:cNvSpPr txBox="1"/>
          <p:nvPr/>
        </p:nvSpPr>
        <p:spPr>
          <a:xfrm>
            <a:off x="548640" y="1298448"/>
            <a:ext cx="11064240" cy="365760"/>
          </a:xfrm>
          <a:prstGeom prst="rect">
            <a:avLst/>
          </a:prstGeom>
          <a:noFill/>
        </p:spPr>
        <p:txBody>
          <a:bodyPr wrap="square" lIns="0" rIns="0" tIns="0" bIns="0" anchor="t">
            <a:spAutoFit/>
          </a:bodyPr>
          <a:lstStyle/>
          <a:p>
            <a:pPr algn="l"/>
            <a:r>
              <a:rPr sz="1600" b="0" i="0">
                <a:solidFill>
                  <a:srgbClr val="5B6066"/>
                </a:solidFill>
                <a:latin typeface="Calibri"/>
              </a:rPr>
              <a:t>Three outcomes for the owner and Finance, each backed by a feature in the live app</a:t>
            </a:r>
          </a:p>
        </p:txBody>
      </p:sp>
      <p:sp>
        <p:nvSpPr>
          <p:cNvPr id="5" name="Safer decisions"/>
          <p:cNvSpPr/>
          <p:nvPr/>
        </p:nvSpPr>
        <p:spPr>
          <a:xfrm>
            <a:off x="548640" y="1828800"/>
            <a:ext cx="3520440" cy="3977639"/>
          </a:xfrm>
          <a:prstGeom prst="roundRect">
            <a:avLst>
              <a:gd name="adj" fmla="val 6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057400"/>
            <a:ext cx="457200" cy="457200"/>
          </a:xfrm>
          <a:prstGeom prst="ellipse">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libri"/>
              </a:rPr>
              <a:t>1</a:t>
            </a:r>
          </a:p>
        </p:txBody>
      </p:sp>
      <p:sp>
        <p:nvSpPr>
          <p:cNvPr id="7" name="TextBox 6"/>
          <p:cNvSpPr txBox="1"/>
          <p:nvPr/>
        </p:nvSpPr>
        <p:spPr>
          <a:xfrm>
            <a:off x="1417319" y="2084831"/>
            <a:ext cx="2560320" cy="457200"/>
          </a:xfrm>
          <a:prstGeom prst="rect">
            <a:avLst/>
          </a:prstGeom>
          <a:noFill/>
        </p:spPr>
        <p:txBody>
          <a:bodyPr wrap="square" lIns="0" rIns="0" tIns="0" bIns="0" anchor="t">
            <a:spAutoFit/>
          </a:bodyPr>
          <a:lstStyle/>
          <a:p>
            <a:pPr algn="l"/>
            <a:r>
              <a:rPr sz="2100" b="1" i="0">
                <a:solidFill>
                  <a:srgbClr val="1B7A50"/>
                </a:solidFill>
                <a:latin typeface="Cambria"/>
              </a:rPr>
              <a:t>Safer decisions</a:t>
            </a:r>
          </a:p>
        </p:txBody>
      </p:sp>
      <p:sp>
        <p:nvSpPr>
          <p:cNvPr id="8" name="TextBox 7"/>
          <p:cNvSpPr txBox="1"/>
          <p:nvPr/>
        </p:nvSpPr>
        <p:spPr>
          <a:xfrm>
            <a:off x="822959" y="2697480"/>
            <a:ext cx="3017520" cy="640080"/>
          </a:xfrm>
          <a:prstGeom prst="rect">
            <a:avLst/>
          </a:prstGeom>
          <a:noFill/>
        </p:spPr>
        <p:txBody>
          <a:bodyPr wrap="square" lIns="0" rIns="0" tIns="0" bIns="0" anchor="t">
            <a:spAutoFit/>
          </a:bodyPr>
          <a:lstStyle/>
          <a:p>
            <a:pPr algn="l"/>
            <a:r>
              <a:rPr sz="1500" b="1" i="0">
                <a:solidFill>
                  <a:srgbClr val="14171C"/>
                </a:solidFill>
                <a:latin typeface="Calibri"/>
              </a:rPr>
              <a:t>A screenshot or a promise is not money received.</a:t>
            </a:r>
          </a:p>
        </p:txBody>
      </p:sp>
      <p:sp>
        <p:nvSpPr>
          <p:cNvPr id="9" name="TextBox 8"/>
          <p:cNvSpPr txBox="1"/>
          <p:nvPr/>
        </p:nvSpPr>
        <p:spPr>
          <a:xfrm>
            <a:off x="822959" y="3383280"/>
            <a:ext cx="3017520" cy="2377440"/>
          </a:xfrm>
          <a:prstGeom prst="rect">
            <a:avLst/>
          </a:prstGeom>
          <a:noFill/>
        </p:spPr>
        <p:txBody>
          <a:bodyPr wrap="square" lIns="0" rIns="0" tIns="0" bIns="0" anchor="t">
            <a:spAutoFit/>
          </a:bodyPr>
          <a:lstStyle/>
          <a:p>
            <a:pPr algn="l" marL="201168" indent="-201168">
              <a:spcAft>
                <a:spcPts val="800"/>
              </a:spcAft>
              <a:buChar char="•"/>
            </a:pPr>
            <a:r>
              <a:rPr sz="1400" b="0" i="0">
                <a:solidFill>
                  <a:srgbClr val="14171C"/>
                </a:solidFill>
                <a:latin typeface="Calibri"/>
              </a:rPr>
              <a:t>Every claim is checked against bank records</a:t>
            </a:r>
          </a:p>
          <a:p>
            <a:pPr algn="l" marL="201168" indent="-201168">
              <a:spcAft>
                <a:spcPts val="800"/>
              </a:spcAft>
              <a:buChar char="•"/>
            </a:pPr>
            <a:r>
              <a:rPr sz="1400" b="0" i="0">
                <a:solidFill>
                  <a:srgbClr val="14171C"/>
                </a:solidFill>
                <a:latin typeface="Calibri"/>
              </a:rPr>
              <a:t>Finance approves before anything is recorded</a:t>
            </a:r>
          </a:p>
          <a:p>
            <a:pPr algn="l" marL="201168" indent="-201168">
              <a:spcAft>
                <a:spcPts val="800"/>
              </a:spcAft>
              <a:buChar char="•"/>
            </a:pPr>
            <a:r>
              <a:rPr sz="1400" b="0" i="0">
                <a:solidFill>
                  <a:srgbClr val="14171C"/>
                </a:solidFill>
                <a:latin typeface="Calibri"/>
              </a:rPr>
              <a:t>One bank credit can be used once</a:t>
            </a:r>
          </a:p>
          <a:p>
            <a:pPr algn="l" marL="201168" indent="-201168">
              <a:spcAft>
                <a:spcPts val="800"/>
              </a:spcAft>
              <a:buChar char="•"/>
            </a:pPr>
            <a:r>
              <a:rPr sz="1400" b="0" i="0">
                <a:solidFill>
                  <a:srgbClr val="14171C"/>
                </a:solidFill>
                <a:latin typeface="Calibri"/>
              </a:rPr>
              <a:t>Every action is in the activity log</a:t>
            </a:r>
          </a:p>
        </p:txBody>
      </p:sp>
      <p:sp>
        <p:nvSpPr>
          <p:cNvPr id="10" name="Less manual work"/>
          <p:cNvSpPr/>
          <p:nvPr/>
        </p:nvSpPr>
        <p:spPr>
          <a:xfrm>
            <a:off x="4297679" y="1828800"/>
            <a:ext cx="3520440" cy="3977639"/>
          </a:xfrm>
          <a:prstGeom prst="roundRect">
            <a:avLst>
              <a:gd name="adj" fmla="val 6000"/>
            </a:avLst>
          </a:prstGeom>
          <a:solidFill>
            <a:srgbClr val="FB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1999" y="2057400"/>
            <a:ext cx="457200" cy="457200"/>
          </a:xfrm>
          <a:prstGeom prst="ellipse">
            <a:avLst/>
          </a:prstGeom>
          <a:solidFill>
            <a:srgbClr val="B85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libri"/>
              </a:rPr>
              <a:t>2</a:t>
            </a:r>
          </a:p>
        </p:txBody>
      </p:sp>
      <p:sp>
        <p:nvSpPr>
          <p:cNvPr id="12" name="TextBox 11"/>
          <p:cNvSpPr txBox="1"/>
          <p:nvPr/>
        </p:nvSpPr>
        <p:spPr>
          <a:xfrm>
            <a:off x="5166359" y="2084831"/>
            <a:ext cx="2560320" cy="457200"/>
          </a:xfrm>
          <a:prstGeom prst="rect">
            <a:avLst/>
          </a:prstGeom>
          <a:noFill/>
        </p:spPr>
        <p:txBody>
          <a:bodyPr wrap="square" lIns="0" rIns="0" tIns="0" bIns="0" anchor="t">
            <a:spAutoFit/>
          </a:bodyPr>
          <a:lstStyle/>
          <a:p>
            <a:pPr algn="l"/>
            <a:r>
              <a:rPr sz="2100" b="1" i="0">
                <a:solidFill>
                  <a:srgbClr val="B85C14"/>
                </a:solidFill>
                <a:latin typeface="Cambria"/>
              </a:rPr>
              <a:t>Less manual work</a:t>
            </a:r>
          </a:p>
        </p:txBody>
      </p:sp>
      <p:sp>
        <p:nvSpPr>
          <p:cNvPr id="13" name="TextBox 12"/>
          <p:cNvSpPr txBox="1"/>
          <p:nvPr/>
        </p:nvSpPr>
        <p:spPr>
          <a:xfrm>
            <a:off x="4571999" y="2697480"/>
            <a:ext cx="3017520" cy="640080"/>
          </a:xfrm>
          <a:prstGeom prst="rect">
            <a:avLst/>
          </a:prstGeom>
          <a:noFill/>
        </p:spPr>
        <p:txBody>
          <a:bodyPr wrap="square" lIns="0" rIns="0" tIns="0" bIns="0" anchor="t">
            <a:spAutoFit/>
          </a:bodyPr>
          <a:lstStyle/>
          <a:p>
            <a:pPr algn="l"/>
            <a:r>
              <a:rPr sz="1500" b="1" i="0">
                <a:solidFill>
                  <a:srgbClr val="14171C"/>
                </a:solidFill>
                <a:latin typeface="Calibri"/>
              </a:rPr>
              <a:t>The app does the reading and matching.</a:t>
            </a:r>
          </a:p>
        </p:txBody>
      </p:sp>
      <p:sp>
        <p:nvSpPr>
          <p:cNvPr id="14" name="TextBox 13"/>
          <p:cNvSpPr txBox="1"/>
          <p:nvPr/>
        </p:nvSpPr>
        <p:spPr>
          <a:xfrm>
            <a:off x="4571999" y="3383280"/>
            <a:ext cx="3017520" cy="2377440"/>
          </a:xfrm>
          <a:prstGeom prst="rect">
            <a:avLst/>
          </a:prstGeom>
          <a:noFill/>
        </p:spPr>
        <p:txBody>
          <a:bodyPr wrap="square" lIns="0" rIns="0" tIns="0" bIns="0" anchor="t">
            <a:spAutoFit/>
          </a:bodyPr>
          <a:lstStyle/>
          <a:p>
            <a:pPr algn="l" marL="201168" indent="-201168">
              <a:spcAft>
                <a:spcPts val="800"/>
              </a:spcAft>
              <a:buChar char="•"/>
            </a:pPr>
            <a:r>
              <a:rPr sz="1400" b="0" i="0">
                <a:solidFill>
                  <a:srgbClr val="14171C"/>
                </a:solidFill>
                <a:latin typeface="Calibri"/>
              </a:rPr>
              <a:t>Amount, reference and time read from the screenshot</a:t>
            </a:r>
          </a:p>
          <a:p>
            <a:pPr algn="l" marL="201168" indent="-201168">
              <a:spcAft>
                <a:spcPts val="800"/>
              </a:spcAft>
              <a:buChar char="•"/>
            </a:pPr>
            <a:r>
              <a:rPr sz="1400" b="0" i="0">
                <a:solidFill>
                  <a:srgbClr val="14171C"/>
                </a:solidFill>
                <a:latin typeface="Calibri"/>
              </a:rPr>
              <a:t>Bank CSV import, then automatic matching</a:t>
            </a:r>
          </a:p>
          <a:p>
            <a:pPr algn="l" marL="201168" indent="-201168">
              <a:spcAft>
                <a:spcPts val="800"/>
              </a:spcAft>
              <a:buChar char="•"/>
            </a:pPr>
            <a:r>
              <a:rPr sz="1400" b="0" i="0">
                <a:solidFill>
                  <a:srgbClr val="14171C"/>
                </a:solidFill>
                <a:latin typeface="Calibri"/>
              </a:rPr>
              <a:t>AI drafts reminders and picks up promised dates</a:t>
            </a:r>
          </a:p>
          <a:p>
            <a:pPr algn="l" marL="201168" indent="-201168">
              <a:spcAft>
                <a:spcPts val="800"/>
              </a:spcAft>
              <a:buChar char="•"/>
            </a:pPr>
            <a:r>
              <a:rPr sz="1400" b="0" i="0">
                <a:solidFill>
                  <a:srgbClr val="14171C"/>
                </a:solidFill>
                <a:latin typeface="Calibri"/>
              </a:rPr>
              <a:t>Less retyping and switching between apps</a:t>
            </a:r>
          </a:p>
        </p:txBody>
      </p:sp>
      <p:sp>
        <p:nvSpPr>
          <p:cNvPr id="15" name="Clearer cash"/>
          <p:cNvSpPr/>
          <p:nvPr/>
        </p:nvSpPr>
        <p:spPr>
          <a:xfrm>
            <a:off x="8046719" y="1828800"/>
            <a:ext cx="3520440" cy="3977639"/>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21040" y="2057400"/>
            <a:ext cx="457200" cy="457200"/>
          </a:xfrm>
          <a:prstGeom prst="ellipse">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libri"/>
              </a:rPr>
              <a:t>3</a:t>
            </a:r>
          </a:p>
        </p:txBody>
      </p:sp>
      <p:sp>
        <p:nvSpPr>
          <p:cNvPr id="17" name="TextBox 16"/>
          <p:cNvSpPr txBox="1"/>
          <p:nvPr/>
        </p:nvSpPr>
        <p:spPr>
          <a:xfrm>
            <a:off x="8915399" y="2084831"/>
            <a:ext cx="2560320" cy="457200"/>
          </a:xfrm>
          <a:prstGeom prst="rect">
            <a:avLst/>
          </a:prstGeom>
          <a:noFill/>
        </p:spPr>
        <p:txBody>
          <a:bodyPr wrap="square" lIns="0" rIns="0" tIns="0" bIns="0" anchor="t">
            <a:spAutoFit/>
          </a:bodyPr>
          <a:lstStyle/>
          <a:p>
            <a:pPr algn="l"/>
            <a:r>
              <a:rPr sz="2100" b="1" i="0">
                <a:solidFill>
                  <a:srgbClr val="14171C"/>
                </a:solidFill>
                <a:latin typeface="Cambria"/>
              </a:rPr>
              <a:t>Clearer cash</a:t>
            </a:r>
          </a:p>
        </p:txBody>
      </p:sp>
      <p:sp>
        <p:nvSpPr>
          <p:cNvPr id="18" name="TextBox 17"/>
          <p:cNvSpPr txBox="1"/>
          <p:nvPr/>
        </p:nvSpPr>
        <p:spPr>
          <a:xfrm>
            <a:off x="8321040" y="2697480"/>
            <a:ext cx="3017520" cy="640080"/>
          </a:xfrm>
          <a:prstGeom prst="rect">
            <a:avLst/>
          </a:prstGeom>
          <a:noFill/>
        </p:spPr>
        <p:txBody>
          <a:bodyPr wrap="square" lIns="0" rIns="0" tIns="0" bIns="0" anchor="t">
            <a:spAutoFit/>
          </a:bodyPr>
          <a:lstStyle/>
          <a:p>
            <a:pPr algn="l"/>
            <a:r>
              <a:rPr sz="1500" b="1" i="0">
                <a:solidFill>
                  <a:srgbClr val="14171C"/>
                </a:solidFill>
                <a:latin typeface="Calibri"/>
              </a:rPr>
              <a:t>Received, still due and expected stay separate.</a:t>
            </a:r>
          </a:p>
        </p:txBody>
      </p:sp>
      <p:sp>
        <p:nvSpPr>
          <p:cNvPr id="19" name="TextBox 18"/>
          <p:cNvSpPr txBox="1"/>
          <p:nvPr/>
        </p:nvSpPr>
        <p:spPr>
          <a:xfrm>
            <a:off x="8321040" y="3383280"/>
            <a:ext cx="3017520" cy="2377440"/>
          </a:xfrm>
          <a:prstGeom prst="rect">
            <a:avLst/>
          </a:prstGeom>
          <a:noFill/>
        </p:spPr>
        <p:txBody>
          <a:bodyPr wrap="square" lIns="0" rIns="0" tIns="0" bIns="0" anchor="t">
            <a:spAutoFit/>
          </a:bodyPr>
          <a:lstStyle/>
          <a:p>
            <a:pPr algn="l" marL="201168" indent="-201168">
              <a:spcAft>
                <a:spcPts val="800"/>
              </a:spcAft>
              <a:buChar char="•"/>
            </a:pPr>
            <a:r>
              <a:rPr sz="1400" b="0" i="0">
                <a:solidFill>
                  <a:srgbClr val="14171C"/>
                </a:solidFill>
                <a:latin typeface="Calibri"/>
              </a:rPr>
              <a:t>Partial payments keep the balance collectible</a:t>
            </a:r>
          </a:p>
          <a:p>
            <a:pPr algn="l" marL="201168" indent="-201168">
              <a:spcAft>
                <a:spcPts val="800"/>
              </a:spcAft>
              <a:buChar char="•"/>
            </a:pPr>
            <a:r>
              <a:rPr sz="1400" b="0" i="0">
                <a:solidFill>
                  <a:srgbClr val="14171C"/>
                </a:solidFill>
                <a:latin typeface="Calibri"/>
              </a:rPr>
              <a:t>Promises move expected dates, never cash</a:t>
            </a:r>
          </a:p>
          <a:p>
            <a:pPr algn="l" marL="201168" indent="-201168">
              <a:spcAft>
                <a:spcPts val="800"/>
              </a:spcAft>
              <a:buChar char="•"/>
            </a:pPr>
            <a:r>
              <a:rPr sz="1400" b="0" i="0">
                <a:solidFill>
                  <a:srgbClr val="14171C"/>
                </a:solidFill>
                <a:latin typeface="Calibri"/>
              </a:rPr>
              <a:t>Late-payment scenarios in the 30-day forecast</a:t>
            </a:r>
          </a:p>
          <a:p>
            <a:pPr algn="l" marL="201168" indent="-201168">
              <a:spcAft>
                <a:spcPts val="800"/>
              </a:spcAft>
              <a:buChar char="•"/>
            </a:pPr>
            <a:r>
              <a:rPr sz="1400" b="0" i="0">
                <a:solidFill>
                  <a:srgbClr val="14171C"/>
                </a:solidFill>
                <a:latin typeface="Calibri"/>
              </a:rPr>
              <a:t>Lowest balance and safety line at a glance</a:t>
            </a:r>
          </a:p>
        </p:txBody>
      </p:sp>
      <p:sp>
        <p:nvSpPr>
          <p:cNvPr id="20" name="TextBox 19"/>
          <p:cNvSpPr txBox="1"/>
          <p:nvPr/>
        </p:nvSpPr>
        <p:spPr>
          <a:xfrm>
            <a:off x="548640" y="5943600"/>
            <a:ext cx="11064240" cy="320040"/>
          </a:xfrm>
          <a:prstGeom prst="rect">
            <a:avLst/>
          </a:prstGeom>
          <a:noFill/>
        </p:spPr>
        <p:txBody>
          <a:bodyPr wrap="square" lIns="0" rIns="0" tIns="0" bIns="0" anchor="t">
            <a:spAutoFit/>
          </a:bodyPr>
          <a:lstStyle/>
          <a:p>
            <a:pPr algn="l"/>
            <a:r>
              <a:rPr sz="1300" b="1" i="0">
                <a:solidFill>
                  <a:srgbClr val="B85C14"/>
                </a:solidFill>
                <a:latin typeface="Calibri"/>
              </a:rPr>
              <a:t>We have not measured time savings yet. Minutes per payment check (manual vs tool) is the first pilot measure.</a:t>
            </a:r>
          </a:p>
        </p:txBody>
      </p:sp>
      <p:sp>
        <p:nvSpPr>
          <p:cNvPr id="21"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Features shown in the live app at milestone-2-cash-proof-to-cash.replit.app; all data synthetic.</a:t>
            </a:r>
          </a:p>
        </p:txBody>
      </p:sp>
      <p:sp>
        <p:nvSpPr>
          <p:cNvPr id="22"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6/14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07 · HOW IT WORKS</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From “dah bayar” to a verified partial payment</a:t>
            </a:r>
          </a:p>
        </p:txBody>
      </p:sp>
      <p:sp>
        <p:nvSpPr>
          <p:cNvPr id="4" name="Subtitle"/>
          <p:cNvSpPr txBox="1"/>
          <p:nvPr/>
        </p:nvSpPr>
        <p:spPr>
          <a:xfrm>
            <a:off x="548640" y="1298448"/>
            <a:ext cx="11064240" cy="365760"/>
          </a:xfrm>
          <a:prstGeom prst="rect">
            <a:avLst/>
          </a:prstGeom>
          <a:noFill/>
        </p:spPr>
        <p:txBody>
          <a:bodyPr wrap="square" lIns="0" rIns="0" tIns="0" bIns="0" anchor="t">
            <a:spAutoFit/>
          </a:bodyPr>
          <a:lstStyle/>
          <a:p>
            <a:pPr algn="l"/>
            <a:r>
              <a:rPr sz="1600" b="0" i="0">
                <a:solidFill>
                  <a:srgbClr val="5B6066"/>
                </a:solidFill>
                <a:latin typeface="Calibri"/>
              </a:rPr>
              <a:t>Four screens from our app's built-in walkthrough (synthetic example; no transaction is created)</a:t>
            </a:r>
          </a:p>
        </p:txBody>
      </p:sp>
      <p:sp>
        <p:nvSpPr>
          <p:cNvPr id="5" name="Story 1"/>
          <p:cNvSpPr/>
          <p:nvPr/>
        </p:nvSpPr>
        <p:spPr>
          <a:xfrm>
            <a:off x="548640" y="1828800"/>
            <a:ext cx="5440680" cy="1965960"/>
          </a:xfrm>
          <a:prstGeom prst="roundRect">
            <a:avLst>
              <a:gd name="adj" fmla="val 40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zoom_step1.png"/>
          <p:cNvPicPr>
            <a:picLocks noChangeAspect="1"/>
          </p:cNvPicPr>
          <p:nvPr/>
        </p:nvPicPr>
        <p:blipFill>
          <a:blip r:embed="rId2"/>
          <a:stretch>
            <a:fillRect/>
          </a:stretch>
        </p:blipFill>
        <p:spPr>
          <a:xfrm>
            <a:off x="685800" y="1938528"/>
            <a:ext cx="5166360" cy="1153007"/>
          </a:xfrm>
          <a:prstGeom prst="rect">
            <a:avLst/>
          </a:prstGeom>
        </p:spPr>
      </p:pic>
      <p:sp>
        <p:nvSpPr>
          <p:cNvPr id="7" name="TextBox 6"/>
          <p:cNvSpPr txBox="1"/>
          <p:nvPr/>
        </p:nvSpPr>
        <p:spPr>
          <a:xfrm>
            <a:off x="731520" y="3146399"/>
            <a:ext cx="5120640" cy="320040"/>
          </a:xfrm>
          <a:prstGeom prst="rect">
            <a:avLst/>
          </a:prstGeom>
          <a:noFill/>
        </p:spPr>
        <p:txBody>
          <a:bodyPr wrap="square" lIns="0" rIns="0" tIns="0" bIns="0" anchor="t">
            <a:spAutoFit/>
          </a:bodyPr>
          <a:lstStyle/>
          <a:p>
            <a:pPr algn="l"/>
            <a:r>
              <a:rPr sz="1400" b="1" i="0">
                <a:solidFill>
                  <a:srgbClr val="14171C"/>
                </a:solidFill>
                <a:latin typeface="Calibri"/>
              </a:rPr>
              <a:t>1  The claim arrives</a:t>
            </a:r>
            <a:r>
              <a:rPr sz="1200" b="0" i="0">
                <a:solidFill>
                  <a:srgbClr val="5B6066"/>
                </a:solidFill>
                <a:latin typeface="Calibri"/>
              </a:rPr>
              <a:t>   A reply or screenshot starts a review. It is not proof.</a:t>
            </a:r>
          </a:p>
        </p:txBody>
      </p:sp>
      <p:sp>
        <p:nvSpPr>
          <p:cNvPr id="8" name="Story 2"/>
          <p:cNvSpPr/>
          <p:nvPr/>
        </p:nvSpPr>
        <p:spPr>
          <a:xfrm>
            <a:off x="6172200" y="1828800"/>
            <a:ext cx="5440680" cy="1965960"/>
          </a:xfrm>
          <a:prstGeom prst="roundRect">
            <a:avLst>
              <a:gd name="adj" fmla="val 40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zoom_step2.png"/>
          <p:cNvPicPr>
            <a:picLocks noChangeAspect="1"/>
          </p:cNvPicPr>
          <p:nvPr/>
        </p:nvPicPr>
        <p:blipFill>
          <a:blip r:embed="rId3"/>
          <a:stretch>
            <a:fillRect/>
          </a:stretch>
        </p:blipFill>
        <p:spPr>
          <a:xfrm>
            <a:off x="6309360" y="1938528"/>
            <a:ext cx="5166360" cy="1153007"/>
          </a:xfrm>
          <a:prstGeom prst="rect">
            <a:avLst/>
          </a:prstGeom>
        </p:spPr>
      </p:pic>
      <p:sp>
        <p:nvSpPr>
          <p:cNvPr id="10" name="TextBox 9"/>
          <p:cNvSpPr txBox="1"/>
          <p:nvPr/>
        </p:nvSpPr>
        <p:spPr>
          <a:xfrm>
            <a:off x="6355080" y="3146399"/>
            <a:ext cx="5120640" cy="320040"/>
          </a:xfrm>
          <a:prstGeom prst="rect">
            <a:avLst/>
          </a:prstGeom>
          <a:noFill/>
        </p:spPr>
        <p:txBody>
          <a:bodyPr wrap="square" lIns="0" rIns="0" tIns="0" bIns="0" anchor="t">
            <a:spAutoFit/>
          </a:bodyPr>
          <a:lstStyle/>
          <a:p>
            <a:pPr algn="l"/>
            <a:r>
              <a:rPr sz="1400" b="1" i="0">
                <a:solidFill>
                  <a:srgbClr val="14171C"/>
                </a:solidFill>
                <a:latin typeface="Calibri"/>
              </a:rPr>
              <a:t>2  AI reads the details</a:t>
            </a:r>
            <a:r>
              <a:rPr sz="1200" b="0" i="0">
                <a:solidFill>
                  <a:srgbClr val="5B6066"/>
                </a:solidFill>
                <a:latin typeface="Calibri"/>
              </a:rPr>
              <a:t>   OCR + AI extract amount and reference; Finance can correct.</a:t>
            </a:r>
          </a:p>
        </p:txBody>
      </p:sp>
      <p:sp>
        <p:nvSpPr>
          <p:cNvPr id="11" name="Story 3"/>
          <p:cNvSpPr/>
          <p:nvPr/>
        </p:nvSpPr>
        <p:spPr>
          <a:xfrm>
            <a:off x="548640" y="4023360"/>
            <a:ext cx="5440680" cy="1965960"/>
          </a:xfrm>
          <a:prstGeom prst="roundRect">
            <a:avLst>
              <a:gd name="adj" fmla="val 40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zoom_step3.png"/>
          <p:cNvPicPr>
            <a:picLocks noChangeAspect="1"/>
          </p:cNvPicPr>
          <p:nvPr/>
        </p:nvPicPr>
        <p:blipFill>
          <a:blip r:embed="rId4"/>
          <a:stretch>
            <a:fillRect/>
          </a:stretch>
        </p:blipFill>
        <p:spPr>
          <a:xfrm>
            <a:off x="685800" y="4133088"/>
            <a:ext cx="5166360" cy="1153007"/>
          </a:xfrm>
          <a:prstGeom prst="rect">
            <a:avLst/>
          </a:prstGeom>
        </p:spPr>
      </p:pic>
      <p:sp>
        <p:nvSpPr>
          <p:cNvPr id="13" name="TextBox 12"/>
          <p:cNvSpPr txBox="1"/>
          <p:nvPr/>
        </p:nvSpPr>
        <p:spPr>
          <a:xfrm>
            <a:off x="731520" y="5340959"/>
            <a:ext cx="5120640" cy="320040"/>
          </a:xfrm>
          <a:prstGeom prst="rect">
            <a:avLst/>
          </a:prstGeom>
          <a:noFill/>
        </p:spPr>
        <p:txBody>
          <a:bodyPr wrap="square" lIns="0" rIns="0" tIns="0" bIns="0" anchor="t">
            <a:spAutoFit/>
          </a:bodyPr>
          <a:lstStyle/>
          <a:p>
            <a:pPr algn="l"/>
            <a:r>
              <a:rPr sz="1400" b="1" i="0">
                <a:solidFill>
                  <a:srgbClr val="14171C"/>
                </a:solidFill>
                <a:latin typeface="Calibri"/>
              </a:rPr>
              <a:t>3  Rules check the bank</a:t>
            </a:r>
            <a:r>
              <a:rPr sz="1200" b="0" i="0">
                <a:solidFill>
                  <a:srgbClr val="5B6066"/>
                </a:solidFill>
                <a:latin typeface="Calibri"/>
              </a:rPr>
              <a:t>   Claim matches the bank credit, but a person still approves.</a:t>
            </a:r>
          </a:p>
        </p:txBody>
      </p:sp>
      <p:sp>
        <p:nvSpPr>
          <p:cNvPr id="14" name="Story 4"/>
          <p:cNvSpPr/>
          <p:nvPr/>
        </p:nvSpPr>
        <p:spPr>
          <a:xfrm>
            <a:off x="6172200" y="4023360"/>
            <a:ext cx="5440680" cy="1965960"/>
          </a:xfrm>
          <a:prstGeom prst="roundRect">
            <a:avLst>
              <a:gd name="adj" fmla="val 40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zoom_step4.png"/>
          <p:cNvPicPr>
            <a:picLocks noChangeAspect="1"/>
          </p:cNvPicPr>
          <p:nvPr/>
        </p:nvPicPr>
        <p:blipFill>
          <a:blip r:embed="rId5"/>
          <a:stretch>
            <a:fillRect/>
          </a:stretch>
        </p:blipFill>
        <p:spPr>
          <a:xfrm>
            <a:off x="6309360" y="4133088"/>
            <a:ext cx="5166360" cy="1153007"/>
          </a:xfrm>
          <a:prstGeom prst="rect">
            <a:avLst/>
          </a:prstGeom>
        </p:spPr>
      </p:pic>
      <p:sp>
        <p:nvSpPr>
          <p:cNvPr id="16" name="TextBox 15"/>
          <p:cNvSpPr txBox="1"/>
          <p:nvPr/>
        </p:nvSpPr>
        <p:spPr>
          <a:xfrm>
            <a:off x="6355080" y="5340959"/>
            <a:ext cx="5120640" cy="320040"/>
          </a:xfrm>
          <a:prstGeom prst="rect">
            <a:avLst/>
          </a:prstGeom>
          <a:noFill/>
        </p:spPr>
        <p:txBody>
          <a:bodyPr wrap="square" lIns="0" rIns="0" tIns="0" bIns="0" anchor="t">
            <a:spAutoFit/>
          </a:bodyPr>
          <a:lstStyle/>
          <a:p>
            <a:pPr algn="l"/>
            <a:r>
              <a:rPr sz="1400" b="1" i="0">
                <a:solidFill>
                  <a:srgbClr val="1B7A50"/>
                </a:solidFill>
                <a:latin typeface="Calibri"/>
              </a:rPr>
              <a:t>4  Finance confirms</a:t>
            </a:r>
            <a:r>
              <a:rPr sz="1200" b="0" i="0">
                <a:solidFill>
                  <a:srgbClr val="5B6066"/>
                </a:solidFill>
                <a:latin typeface="Calibri"/>
              </a:rPr>
              <a:t>   RM9,000 recorded; RM9,000 stays due; every step logged.</a:t>
            </a:r>
          </a:p>
        </p:txBody>
      </p:sp>
      <p:sp>
        <p:nvSpPr>
          <p:cNvPr id="17"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Screens: milestone-2-cash-proof-to-cash.replit.app (landing-page walkthrough). The live workflow is shown in the demo video.</a:t>
            </a:r>
          </a:p>
        </p:txBody>
      </p:sp>
      <p:sp>
        <p:nvSpPr>
          <p:cNvPr id="18"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7/14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08 · LIVE DEMO</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A working product, live on Replit</a:t>
            </a:r>
          </a:p>
        </p:txBody>
      </p:sp>
      <p:sp>
        <p:nvSpPr>
          <p:cNvPr id="4" name="Subtitle"/>
          <p:cNvSpPr txBox="1"/>
          <p:nvPr/>
        </p:nvSpPr>
        <p:spPr>
          <a:xfrm>
            <a:off x="548640" y="1298448"/>
            <a:ext cx="11064240" cy="365760"/>
          </a:xfrm>
          <a:prstGeom prst="rect">
            <a:avLst/>
          </a:prstGeom>
          <a:noFill/>
        </p:spPr>
        <p:txBody>
          <a:bodyPr wrap="square" lIns="0" rIns="0" tIns="0" bIns="0" anchor="t">
            <a:spAutoFit/>
          </a:bodyPr>
          <a:lstStyle/>
          <a:p>
            <a:pPr algn="l"/>
            <a:r>
              <a:rPr sz="1600" b="0" i="0">
                <a:solidFill>
                  <a:srgbClr val="5B6066"/>
                </a:solidFill>
                <a:latin typeface="Calibri"/>
              </a:rPr>
              <a:t>Live: milestone-2-cash-proof-to-cash.replit.app  ·  synthetic demo company “Studio Lumen”</a:t>
            </a:r>
          </a:p>
        </p:txBody>
      </p:sp>
      <p:sp>
        <p:nvSpPr>
          <p:cNvPr id="5" name="Payment check frame"/>
          <p:cNvSpPr/>
          <p:nvPr/>
        </p:nvSpPr>
        <p:spPr>
          <a:xfrm>
            <a:off x="1541411" y="1737360"/>
            <a:ext cx="3960380" cy="3657600"/>
          </a:xfrm>
          <a:prstGeom prst="roundRect">
            <a:avLst>
              <a:gd name="adj" fmla="val 25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50555" y="1746504"/>
            <a:ext cx="3942092" cy="246888"/>
          </a:xfrm>
          <a:prstGeom prst="roundRect">
            <a:avLst>
              <a:gd name="adj" fmla="val 20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87715" y="1819656"/>
            <a:ext cx="91440" cy="91440"/>
          </a:xfrm>
          <a:prstGeom prst="ellipse">
            <a:avLst/>
          </a:prstGeom>
          <a:solidFill>
            <a:srgbClr val="E56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43163" y="1819656"/>
            <a:ext cx="91440" cy="91440"/>
          </a:xfrm>
          <a:prstGeom prst="ellipse">
            <a:avLst/>
          </a:prstGeom>
          <a:solidFill>
            <a:srgbClr val="E8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998611" y="1819656"/>
            <a:ext cx="91440" cy="91440"/>
          </a:xfrm>
          <a:prstGeom prst="ellipse">
            <a:avLst/>
          </a:prstGeom>
          <a:solidFill>
            <a:srgbClr val="6CC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ayment check" descr="c_payment.png"/>
          <p:cNvPicPr>
            <a:picLocks noChangeAspect="1"/>
          </p:cNvPicPr>
          <p:nvPr/>
        </p:nvPicPr>
        <p:blipFill>
          <a:blip r:embed="rId2"/>
          <a:stretch>
            <a:fillRect/>
          </a:stretch>
        </p:blipFill>
        <p:spPr>
          <a:xfrm>
            <a:off x="1559699" y="1993391"/>
            <a:ext cx="3923804" cy="3383279"/>
          </a:xfrm>
          <a:prstGeom prst="rect">
            <a:avLst/>
          </a:prstGeom>
        </p:spPr>
      </p:pic>
      <p:sp>
        <p:nvSpPr>
          <p:cNvPr id="11" name="Overview frame"/>
          <p:cNvSpPr/>
          <p:nvPr/>
        </p:nvSpPr>
        <p:spPr>
          <a:xfrm>
            <a:off x="5821831" y="1737360"/>
            <a:ext cx="5220600" cy="3657600"/>
          </a:xfrm>
          <a:prstGeom prst="roundRect">
            <a:avLst>
              <a:gd name="adj" fmla="val 25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830975" y="1746504"/>
            <a:ext cx="5202312" cy="246888"/>
          </a:xfrm>
          <a:prstGeom prst="roundRect">
            <a:avLst>
              <a:gd name="adj" fmla="val 20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68135" y="1819656"/>
            <a:ext cx="91440" cy="91440"/>
          </a:xfrm>
          <a:prstGeom prst="ellipse">
            <a:avLst/>
          </a:prstGeom>
          <a:solidFill>
            <a:srgbClr val="E56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123583" y="1819656"/>
            <a:ext cx="91440" cy="91440"/>
          </a:xfrm>
          <a:prstGeom prst="ellipse">
            <a:avLst/>
          </a:prstGeom>
          <a:solidFill>
            <a:srgbClr val="E8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79031" y="1819656"/>
            <a:ext cx="91440" cy="91440"/>
          </a:xfrm>
          <a:prstGeom prst="ellipse">
            <a:avLst/>
          </a:prstGeom>
          <a:solidFill>
            <a:srgbClr val="6CC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Overview" descr="c_overview.png"/>
          <p:cNvPicPr>
            <a:picLocks noChangeAspect="1"/>
          </p:cNvPicPr>
          <p:nvPr/>
        </p:nvPicPr>
        <p:blipFill>
          <a:blip r:embed="rId3"/>
          <a:stretch>
            <a:fillRect/>
          </a:stretch>
        </p:blipFill>
        <p:spPr>
          <a:xfrm>
            <a:off x="5840119" y="1993391"/>
            <a:ext cx="5184024" cy="3383279"/>
          </a:xfrm>
          <a:prstGeom prst="rect">
            <a:avLst/>
          </a:prstGeom>
        </p:spPr>
      </p:pic>
      <p:sp>
        <p:nvSpPr>
          <p:cNvPr id="17" name="Rounded Rectangle 16"/>
          <p:cNvSpPr/>
          <p:nvPr/>
        </p:nvSpPr>
        <p:spPr>
          <a:xfrm>
            <a:off x="1398117" y="5513832"/>
            <a:ext cx="1453895" cy="292608"/>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b="1">
                <a:solidFill>
                  <a:srgbClr val="1B7A50"/>
                </a:solidFill>
                <a:latin typeface="Calibri"/>
              </a:rPr>
              <a:t>Works on mobile</a:t>
            </a:r>
          </a:p>
        </p:txBody>
      </p:sp>
      <p:sp>
        <p:nvSpPr>
          <p:cNvPr id="18" name="Rounded Rectangle 17"/>
          <p:cNvSpPr/>
          <p:nvPr/>
        </p:nvSpPr>
        <p:spPr>
          <a:xfrm>
            <a:off x="2989173" y="5513832"/>
            <a:ext cx="1603857" cy="292608"/>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b="1">
                <a:solidFill>
                  <a:srgbClr val="1B7A50"/>
                </a:solidFill>
                <a:latin typeface="Calibri"/>
              </a:rPr>
              <a:t>English · 中文 · BM</a:t>
            </a:r>
          </a:p>
        </p:txBody>
      </p:sp>
      <p:sp>
        <p:nvSpPr>
          <p:cNvPr id="19" name="Rounded Rectangle 18"/>
          <p:cNvSpPr/>
          <p:nvPr/>
        </p:nvSpPr>
        <p:spPr>
          <a:xfrm>
            <a:off x="4730191" y="5513832"/>
            <a:ext cx="1903780" cy="292608"/>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b="1">
                <a:solidFill>
                  <a:srgbClr val="1B7A50"/>
                </a:solidFill>
                <a:latin typeface="Calibri"/>
              </a:rPr>
              <a:t>Light and dark themes</a:t>
            </a:r>
          </a:p>
        </p:txBody>
      </p:sp>
      <p:sp>
        <p:nvSpPr>
          <p:cNvPr id="20" name="Rounded Rectangle 19"/>
          <p:cNvSpPr/>
          <p:nvPr/>
        </p:nvSpPr>
        <p:spPr>
          <a:xfrm>
            <a:off x="6771131" y="5513832"/>
            <a:ext cx="1453895" cy="292608"/>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b="1">
                <a:solidFill>
                  <a:srgbClr val="1B7A50"/>
                </a:solidFill>
                <a:latin typeface="Calibri"/>
              </a:rPr>
              <a:t>Bank CSV import</a:t>
            </a:r>
          </a:p>
        </p:txBody>
      </p:sp>
      <p:sp>
        <p:nvSpPr>
          <p:cNvPr id="21" name="Rounded Rectangle 20"/>
          <p:cNvSpPr/>
          <p:nvPr/>
        </p:nvSpPr>
        <p:spPr>
          <a:xfrm>
            <a:off x="8362188" y="5513832"/>
            <a:ext cx="2428646" cy="292608"/>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b="1">
                <a:solidFill>
                  <a:srgbClr val="1B7A50"/>
                </a:solidFill>
                <a:latin typeface="Calibri"/>
              </a:rPr>
              <a:t>Duplicate-payment protection</a:t>
            </a:r>
          </a:p>
        </p:txBody>
      </p:sp>
      <p:sp>
        <p:nvSpPr>
          <p:cNvPr id="22" name="TextBox 21"/>
          <p:cNvSpPr txBox="1"/>
          <p:nvPr/>
        </p:nvSpPr>
        <p:spPr>
          <a:xfrm>
            <a:off x="548640" y="5943600"/>
            <a:ext cx="11064240" cy="365760"/>
          </a:xfrm>
          <a:prstGeom prst="rect">
            <a:avLst/>
          </a:prstGeom>
          <a:noFill/>
        </p:spPr>
        <p:txBody>
          <a:bodyPr wrap="square" lIns="0" rIns="0" tIns="0" bIns="0" anchor="t">
            <a:spAutoFit/>
          </a:bodyPr>
          <a:lstStyle/>
          <a:p>
            <a:pPr algn="l"/>
            <a:r>
              <a:rPr sz="1300" b="1" i="0">
                <a:solidFill>
                  <a:srgbClr val="14171C"/>
                </a:solidFill>
                <a:latin typeface="Calibri"/>
              </a:rPr>
              <a:t>Demo path:  </a:t>
            </a:r>
            <a:r>
              <a:rPr sz="1300" b="0" i="0">
                <a:solidFill>
                  <a:srgbClr val="14171C"/>
                </a:solidFill>
                <a:latin typeface="Calibri"/>
              </a:rPr>
              <a:t>milestone done → Owner approves invoice → reminder sent (simulated) → RM9,000 screenshot read → bank check → partial payment recorded</a:t>
            </a:r>
          </a:p>
        </p:txBody>
      </p:sp>
      <p:sp>
        <p:nvSpPr>
          <p:cNvPr id="23"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Screenshots: live app, seeded synthetic state on 24 Oct 2026. Demo roles; sending is simulated; no real bank or WhatsApp link; redeploying resets the demo data.</a:t>
            </a:r>
          </a:p>
        </p:txBody>
      </p:sp>
      <p:sp>
        <p:nvSpPr>
          <p:cNvPr id="24"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8/14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09 · CASH VIEW</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A promise changes timing, never cash received</a:t>
            </a:r>
          </a:p>
        </p:txBody>
      </p:sp>
      <p:sp>
        <p:nvSpPr>
          <p:cNvPr id="4" name="Cash forecast frame"/>
          <p:cNvSpPr/>
          <p:nvPr/>
        </p:nvSpPr>
        <p:spPr>
          <a:xfrm>
            <a:off x="548640" y="1463040"/>
            <a:ext cx="6858000" cy="4646081"/>
          </a:xfrm>
          <a:prstGeom prst="roundRect">
            <a:avLst>
              <a:gd name="adj" fmla="val 2500"/>
            </a:avLst>
          </a:prstGeom>
          <a:solidFill>
            <a:srgbClr val="FFFFFF"/>
          </a:solidFill>
          <a:ln w="12700">
            <a:solidFill>
              <a:srgbClr val="D8DB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57784" y="1472184"/>
            <a:ext cx="6839712" cy="246888"/>
          </a:xfrm>
          <a:prstGeom prst="roundRect">
            <a:avLst>
              <a:gd name="adj" fmla="val 20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94944" y="1545336"/>
            <a:ext cx="91440" cy="91440"/>
          </a:xfrm>
          <a:prstGeom prst="ellipse">
            <a:avLst/>
          </a:prstGeom>
          <a:solidFill>
            <a:srgbClr val="E56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0392" y="1545336"/>
            <a:ext cx="91440" cy="91440"/>
          </a:xfrm>
          <a:prstGeom prst="ellipse">
            <a:avLst/>
          </a:prstGeom>
          <a:solidFill>
            <a:srgbClr val="E8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1545336"/>
            <a:ext cx="91440" cy="91440"/>
          </a:xfrm>
          <a:prstGeom prst="ellipse">
            <a:avLst/>
          </a:prstGeom>
          <a:solidFill>
            <a:srgbClr val="6CC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Cash forecast" descr="c_cash.png"/>
          <p:cNvPicPr>
            <a:picLocks noChangeAspect="1"/>
          </p:cNvPicPr>
          <p:nvPr/>
        </p:nvPicPr>
        <p:blipFill>
          <a:blip r:embed="rId2"/>
          <a:stretch>
            <a:fillRect/>
          </a:stretch>
        </p:blipFill>
        <p:spPr>
          <a:xfrm>
            <a:off x="566928" y="1719072"/>
            <a:ext cx="6821424" cy="4371761"/>
          </a:xfrm>
          <a:prstGeom prst="rect">
            <a:avLst/>
          </a:prstGeom>
        </p:spPr>
      </p:pic>
      <p:sp>
        <p:nvSpPr>
          <p:cNvPr id="10" name="Oval 9"/>
          <p:cNvSpPr/>
          <p:nvPr/>
        </p:nvSpPr>
        <p:spPr>
          <a:xfrm>
            <a:off x="7818120" y="1527048"/>
            <a:ext cx="384048" cy="384048"/>
          </a:xfrm>
          <a:prstGeom prst="ellipse">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libri"/>
              </a:rPr>
              <a:t>1</a:t>
            </a:r>
          </a:p>
        </p:txBody>
      </p:sp>
      <p:sp>
        <p:nvSpPr>
          <p:cNvPr id="11" name="TextBox 10"/>
          <p:cNvSpPr txBox="1"/>
          <p:nvPr/>
        </p:nvSpPr>
        <p:spPr>
          <a:xfrm>
            <a:off x="8366760" y="1508760"/>
            <a:ext cx="3291840" cy="1097280"/>
          </a:xfrm>
          <a:prstGeom prst="rect">
            <a:avLst/>
          </a:prstGeom>
          <a:noFill/>
        </p:spPr>
        <p:txBody>
          <a:bodyPr wrap="square" lIns="0" rIns="0" tIns="0" bIns="0" anchor="t">
            <a:spAutoFit/>
          </a:bodyPr>
          <a:lstStyle/>
          <a:p>
            <a:pPr algn="l"/>
            <a:r>
              <a:rPr sz="1700" b="1" i="0">
                <a:solidFill>
                  <a:srgbClr val="14171C"/>
                </a:solidFill>
                <a:latin typeface="Calibri"/>
              </a:rPr>
              <a:t>Promise captured</a:t>
            </a:r>
          </a:p>
          <a:p>
            <a:pPr algn="l"/>
            <a:r>
              <a:rPr sz="1400" b="0" i="0">
                <a:solidFill>
                  <a:srgbClr val="14171C"/>
                </a:solidFill>
                <a:latin typeface="Calibri"/>
              </a:rPr>
              <a:t>“I will pay the remaining RM9,000 on 28 Oct” is read by AI, then confirmed by Finance.</a:t>
            </a:r>
          </a:p>
        </p:txBody>
      </p:sp>
      <p:sp>
        <p:nvSpPr>
          <p:cNvPr id="12" name="Oval 11"/>
          <p:cNvSpPr/>
          <p:nvPr/>
        </p:nvSpPr>
        <p:spPr>
          <a:xfrm>
            <a:off x="7818120" y="2715768"/>
            <a:ext cx="384048" cy="384048"/>
          </a:xfrm>
          <a:prstGeom prst="ellipse">
            <a:avLst/>
          </a:prstGeom>
          <a:solidFill>
            <a:srgbClr val="B85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libri"/>
              </a:rPr>
              <a:t>2</a:t>
            </a:r>
          </a:p>
        </p:txBody>
      </p:sp>
      <p:sp>
        <p:nvSpPr>
          <p:cNvPr id="13" name="TextBox 12"/>
          <p:cNvSpPr txBox="1"/>
          <p:nvPr/>
        </p:nvSpPr>
        <p:spPr>
          <a:xfrm>
            <a:off x="8366760" y="2697480"/>
            <a:ext cx="3291840" cy="1097280"/>
          </a:xfrm>
          <a:prstGeom prst="rect">
            <a:avLst/>
          </a:prstGeom>
          <a:noFill/>
        </p:spPr>
        <p:txBody>
          <a:bodyPr wrap="square" lIns="0" rIns="0" tIns="0" bIns="0" anchor="t">
            <a:spAutoFit/>
          </a:bodyPr>
          <a:lstStyle/>
          <a:p>
            <a:pPr algn="l"/>
            <a:r>
              <a:rPr sz="1700" b="1" i="0">
                <a:solidFill>
                  <a:srgbClr val="14171C"/>
                </a:solidFill>
                <a:latin typeface="Calibri"/>
              </a:rPr>
              <a:t>What if they pay late?</a:t>
            </a:r>
          </a:p>
          <a:p>
            <a:pPr algn="l"/>
            <a:r>
              <a:rPr sz="1400" b="0" i="0">
                <a:solidFill>
                  <a:srgbClr val="14171C"/>
                </a:solidFill>
                <a:latin typeface="Calibri"/>
              </a:rPr>
              <a:t>Switch to 7 days late: the expected receipt moves from 28 Oct to 4 Nov.</a:t>
            </a:r>
          </a:p>
        </p:txBody>
      </p:sp>
      <p:sp>
        <p:nvSpPr>
          <p:cNvPr id="14" name="Oval 13"/>
          <p:cNvSpPr/>
          <p:nvPr/>
        </p:nvSpPr>
        <p:spPr>
          <a:xfrm>
            <a:off x="7818120" y="3904487"/>
            <a:ext cx="384048" cy="384048"/>
          </a:xfrm>
          <a:prstGeom prst="ellipse">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libri"/>
              </a:rPr>
              <a:t>3</a:t>
            </a:r>
          </a:p>
        </p:txBody>
      </p:sp>
      <p:sp>
        <p:nvSpPr>
          <p:cNvPr id="15" name="TextBox 14"/>
          <p:cNvSpPr txBox="1"/>
          <p:nvPr/>
        </p:nvSpPr>
        <p:spPr>
          <a:xfrm>
            <a:off x="8366760" y="3886200"/>
            <a:ext cx="3291840" cy="1097280"/>
          </a:xfrm>
          <a:prstGeom prst="rect">
            <a:avLst/>
          </a:prstGeom>
          <a:noFill/>
        </p:spPr>
        <p:txBody>
          <a:bodyPr wrap="square" lIns="0" rIns="0" tIns="0" bIns="0" anchor="t">
            <a:spAutoFit/>
          </a:bodyPr>
          <a:lstStyle/>
          <a:p>
            <a:pPr algn="l"/>
            <a:r>
              <a:rPr sz="1700" b="1" i="0">
                <a:solidFill>
                  <a:srgbClr val="14171C"/>
                </a:solidFill>
                <a:latin typeface="Calibri"/>
              </a:rPr>
              <a:t>Actual vs expected</a:t>
            </a:r>
          </a:p>
          <a:p>
            <a:pPr algn="l"/>
            <a:r>
              <a:rPr sz="1400" b="0" i="0">
                <a:solidFill>
                  <a:srgbClr val="14171C"/>
                </a:solidFill>
                <a:latin typeface="Calibri"/>
              </a:rPr>
              <a:t>Approved payments are cash. Promises stay expected and are never counted twice.</a:t>
            </a:r>
          </a:p>
        </p:txBody>
      </p:sp>
      <p:sp>
        <p:nvSpPr>
          <p:cNvPr id="16" name="Oval 15"/>
          <p:cNvSpPr/>
          <p:nvPr/>
        </p:nvSpPr>
        <p:spPr>
          <a:xfrm>
            <a:off x="7818120" y="5093207"/>
            <a:ext cx="384048" cy="384048"/>
          </a:xfrm>
          <a:prstGeom prst="ellipse">
            <a:avLst/>
          </a:prstGeom>
          <a:solidFill>
            <a:srgbClr val="B85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libri"/>
              </a:rPr>
              <a:t>4</a:t>
            </a:r>
          </a:p>
        </p:txBody>
      </p:sp>
      <p:sp>
        <p:nvSpPr>
          <p:cNvPr id="17" name="TextBox 16"/>
          <p:cNvSpPr txBox="1"/>
          <p:nvPr/>
        </p:nvSpPr>
        <p:spPr>
          <a:xfrm>
            <a:off x="8366760" y="5074920"/>
            <a:ext cx="3291840" cy="1097280"/>
          </a:xfrm>
          <a:prstGeom prst="rect">
            <a:avLst/>
          </a:prstGeom>
          <a:noFill/>
        </p:spPr>
        <p:txBody>
          <a:bodyPr wrap="square" lIns="0" rIns="0" tIns="0" bIns="0" anchor="t">
            <a:spAutoFit/>
          </a:bodyPr>
          <a:lstStyle/>
          <a:p>
            <a:pPr algn="l"/>
            <a:r>
              <a:rPr sz="1700" b="1" i="0">
                <a:solidFill>
                  <a:srgbClr val="14171C"/>
                </a:solidFill>
                <a:latin typeface="Calibri"/>
              </a:rPr>
              <a:t>Next 30 days</a:t>
            </a:r>
          </a:p>
          <a:p>
            <a:pPr algn="l"/>
            <a:r>
              <a:rPr sz="1400" b="0" i="0">
                <a:solidFill>
                  <a:srgbClr val="14171C"/>
                </a:solidFill>
                <a:latin typeface="Calibri"/>
              </a:rPr>
              <a:t>Lowest balance and the safety line, traceable to every entry.</a:t>
            </a:r>
          </a:p>
        </p:txBody>
      </p:sp>
      <p:sp>
        <p:nvSpPr>
          <p:cNvPr id="18"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Screenshot: live app before the demo payment is recorded; values shown are synthetic.</a:t>
            </a:r>
          </a:p>
        </p:txBody>
      </p:sp>
      <p:sp>
        <p:nvSpPr>
          <p:cNvPr id="19"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9/14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10 · FEASIBILITY AND TRUST</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Rules make the decisions; AI only reads</a:t>
            </a:r>
          </a:p>
        </p:txBody>
      </p:sp>
      <p:sp>
        <p:nvSpPr>
          <p:cNvPr id="4" name="Subtitle"/>
          <p:cNvSpPr txBox="1"/>
          <p:nvPr/>
        </p:nvSpPr>
        <p:spPr>
          <a:xfrm>
            <a:off x="548640" y="1298448"/>
            <a:ext cx="11064240" cy="365760"/>
          </a:xfrm>
          <a:prstGeom prst="rect">
            <a:avLst/>
          </a:prstGeom>
          <a:noFill/>
        </p:spPr>
        <p:txBody>
          <a:bodyPr wrap="square" lIns="0" rIns="0" tIns="0" bIns="0" anchor="t">
            <a:spAutoFit/>
          </a:bodyPr>
          <a:lstStyle/>
          <a:p>
            <a:pPr algn="l"/>
            <a:r>
              <a:rPr sz="1600" b="0" i="0">
                <a:solidFill>
                  <a:srgbClr val="5B6066"/>
                </a:solidFill>
                <a:latin typeface="Calibri"/>
              </a:rPr>
              <a:t>Architecture of the working prototype, hosted on Replit</a:t>
            </a:r>
          </a:p>
        </p:txBody>
      </p:sp>
      <p:sp>
        <p:nvSpPr>
          <p:cNvPr id="5" name="Browser UI"/>
          <p:cNvSpPr/>
          <p:nvPr/>
        </p:nvSpPr>
        <p:spPr>
          <a:xfrm>
            <a:off x="548640" y="1783080"/>
            <a:ext cx="2148840" cy="10058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11095"/>
            <a:ext cx="1828800" cy="320040"/>
          </a:xfrm>
          <a:prstGeom prst="rect">
            <a:avLst/>
          </a:prstGeom>
          <a:noFill/>
        </p:spPr>
        <p:txBody>
          <a:bodyPr wrap="square" lIns="0" rIns="0" tIns="0" bIns="0" anchor="t">
            <a:spAutoFit/>
          </a:bodyPr>
          <a:lstStyle/>
          <a:p>
            <a:pPr algn="l"/>
            <a:r>
              <a:rPr sz="1500" b="1" i="0">
                <a:solidFill>
                  <a:srgbClr val="14171C"/>
                </a:solidFill>
                <a:latin typeface="Calibri"/>
              </a:rPr>
              <a:t>Browser UI</a:t>
            </a:r>
          </a:p>
        </p:txBody>
      </p:sp>
      <p:sp>
        <p:nvSpPr>
          <p:cNvPr id="7" name="TextBox 6"/>
          <p:cNvSpPr txBox="1"/>
          <p:nvPr/>
        </p:nvSpPr>
        <p:spPr>
          <a:xfrm>
            <a:off x="731520" y="2240280"/>
            <a:ext cx="1828800" cy="502920"/>
          </a:xfrm>
          <a:prstGeom prst="rect">
            <a:avLst/>
          </a:prstGeom>
          <a:noFill/>
        </p:spPr>
        <p:txBody>
          <a:bodyPr wrap="square" lIns="0" rIns="0" tIns="0" bIns="0" anchor="t">
            <a:spAutoFit/>
          </a:bodyPr>
          <a:lstStyle/>
          <a:p>
            <a:pPr algn="l"/>
            <a:r>
              <a:rPr sz="1200" b="0" i="0">
                <a:solidFill>
                  <a:srgbClr val="5B6066"/>
                </a:solidFill>
                <a:latin typeface="Calibri"/>
              </a:rPr>
              <a:t>React · EN / 中文 / BM</a:t>
            </a:r>
          </a:p>
        </p:txBody>
      </p:sp>
      <p:sp>
        <p:nvSpPr>
          <p:cNvPr id="8" name="Node.js API"/>
          <p:cNvSpPr/>
          <p:nvPr/>
        </p:nvSpPr>
        <p:spPr>
          <a:xfrm>
            <a:off x="3017520" y="1783080"/>
            <a:ext cx="2286000" cy="10058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0" y="1911095"/>
            <a:ext cx="1965960" cy="320040"/>
          </a:xfrm>
          <a:prstGeom prst="rect">
            <a:avLst/>
          </a:prstGeom>
          <a:noFill/>
        </p:spPr>
        <p:txBody>
          <a:bodyPr wrap="square" lIns="0" rIns="0" tIns="0" bIns="0" anchor="t">
            <a:spAutoFit/>
          </a:bodyPr>
          <a:lstStyle/>
          <a:p>
            <a:pPr algn="l"/>
            <a:r>
              <a:rPr sz="1500" b="1" i="0">
                <a:solidFill>
                  <a:srgbClr val="14171C"/>
                </a:solidFill>
                <a:latin typeface="Calibri"/>
              </a:rPr>
              <a:t>Node.js API</a:t>
            </a:r>
          </a:p>
        </p:txBody>
      </p:sp>
      <p:sp>
        <p:nvSpPr>
          <p:cNvPr id="10" name="TextBox 9"/>
          <p:cNvSpPr txBox="1"/>
          <p:nvPr/>
        </p:nvSpPr>
        <p:spPr>
          <a:xfrm>
            <a:off x="3200400" y="2240280"/>
            <a:ext cx="1965960" cy="502920"/>
          </a:xfrm>
          <a:prstGeom prst="rect">
            <a:avLst/>
          </a:prstGeom>
          <a:noFill/>
        </p:spPr>
        <p:txBody>
          <a:bodyPr wrap="square" lIns="0" rIns="0" tIns="0" bIns="0" anchor="t">
            <a:spAutoFit/>
          </a:bodyPr>
          <a:lstStyle/>
          <a:p>
            <a:pPr algn="l"/>
            <a:r>
              <a:rPr sz="1200" b="0" i="0">
                <a:solidFill>
                  <a:srgbClr val="5B6066"/>
                </a:solidFill>
                <a:latin typeface="Calibri"/>
              </a:rPr>
              <a:t>17 operations · role checks</a:t>
            </a:r>
          </a:p>
        </p:txBody>
      </p:sp>
      <p:sp>
        <p:nvSpPr>
          <p:cNvPr id="11" name="Local OCR"/>
          <p:cNvSpPr/>
          <p:nvPr/>
        </p:nvSpPr>
        <p:spPr>
          <a:xfrm>
            <a:off x="5623560" y="1783080"/>
            <a:ext cx="2103120" cy="10058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06440" y="1911095"/>
            <a:ext cx="1783079" cy="320040"/>
          </a:xfrm>
          <a:prstGeom prst="rect">
            <a:avLst/>
          </a:prstGeom>
          <a:noFill/>
        </p:spPr>
        <p:txBody>
          <a:bodyPr wrap="square" lIns="0" rIns="0" tIns="0" bIns="0" anchor="t">
            <a:spAutoFit/>
          </a:bodyPr>
          <a:lstStyle/>
          <a:p>
            <a:pPr algn="l"/>
            <a:r>
              <a:rPr sz="1500" b="1" i="0">
                <a:solidFill>
                  <a:srgbClr val="14171C"/>
                </a:solidFill>
                <a:latin typeface="Calibri"/>
              </a:rPr>
              <a:t>Local OCR</a:t>
            </a:r>
          </a:p>
        </p:txBody>
      </p:sp>
      <p:sp>
        <p:nvSpPr>
          <p:cNvPr id="13" name="TextBox 12"/>
          <p:cNvSpPr txBox="1"/>
          <p:nvPr/>
        </p:nvSpPr>
        <p:spPr>
          <a:xfrm>
            <a:off x="5806440" y="2240280"/>
            <a:ext cx="1783079" cy="502920"/>
          </a:xfrm>
          <a:prstGeom prst="rect">
            <a:avLst/>
          </a:prstGeom>
          <a:noFill/>
        </p:spPr>
        <p:txBody>
          <a:bodyPr wrap="square" lIns="0" rIns="0" tIns="0" bIns="0" anchor="t">
            <a:spAutoFit/>
          </a:bodyPr>
          <a:lstStyle/>
          <a:p>
            <a:pPr algn="l"/>
            <a:r>
              <a:rPr sz="1200" b="0" i="0">
                <a:solidFill>
                  <a:srgbClr val="5B6066"/>
                </a:solidFill>
                <a:latin typeface="Calibri"/>
              </a:rPr>
              <a:t>Tesseract.js on our server</a:t>
            </a:r>
          </a:p>
        </p:txBody>
      </p:sp>
      <p:sp>
        <p:nvSpPr>
          <p:cNvPr id="14" name="Matching rules"/>
          <p:cNvSpPr/>
          <p:nvPr/>
        </p:nvSpPr>
        <p:spPr>
          <a:xfrm>
            <a:off x="3017520" y="3246120"/>
            <a:ext cx="2286000" cy="10058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0" y="3374136"/>
            <a:ext cx="1965960" cy="320040"/>
          </a:xfrm>
          <a:prstGeom prst="rect">
            <a:avLst/>
          </a:prstGeom>
          <a:noFill/>
        </p:spPr>
        <p:txBody>
          <a:bodyPr wrap="square" lIns="0" rIns="0" tIns="0" bIns="0" anchor="t">
            <a:spAutoFit/>
          </a:bodyPr>
          <a:lstStyle/>
          <a:p>
            <a:pPr algn="l"/>
            <a:r>
              <a:rPr sz="1500" b="1" i="0">
                <a:solidFill>
                  <a:srgbClr val="14171C"/>
                </a:solidFill>
                <a:latin typeface="Calibri"/>
              </a:rPr>
              <a:t>Matching rules</a:t>
            </a:r>
          </a:p>
        </p:txBody>
      </p:sp>
      <p:sp>
        <p:nvSpPr>
          <p:cNvPr id="16" name="TextBox 15"/>
          <p:cNvSpPr txBox="1"/>
          <p:nvPr/>
        </p:nvSpPr>
        <p:spPr>
          <a:xfrm>
            <a:off x="3200400" y="3703320"/>
            <a:ext cx="1965960" cy="502920"/>
          </a:xfrm>
          <a:prstGeom prst="rect">
            <a:avLst/>
          </a:prstGeom>
          <a:noFill/>
        </p:spPr>
        <p:txBody>
          <a:bodyPr wrap="square" lIns="0" rIns="0" tIns="0" bIns="0" anchor="t">
            <a:spAutoFit/>
          </a:bodyPr>
          <a:lstStyle/>
          <a:p>
            <a:pPr algn="l"/>
            <a:r>
              <a:rPr sz="1200" b="0" i="0">
                <a:solidFill>
                  <a:srgbClr val="5B6066"/>
                </a:solidFill>
                <a:latin typeface="Calibri"/>
              </a:rPr>
              <a:t>Amount · reference · time · duplicates</a:t>
            </a:r>
          </a:p>
        </p:txBody>
      </p:sp>
      <p:sp>
        <p:nvSpPr>
          <p:cNvPr id="17" name="DeepSeek"/>
          <p:cNvSpPr/>
          <p:nvPr/>
        </p:nvSpPr>
        <p:spPr>
          <a:xfrm>
            <a:off x="5623560" y="3246120"/>
            <a:ext cx="2103120" cy="1005840"/>
          </a:xfrm>
          <a:prstGeom prst="roundRect">
            <a:avLst>
              <a:gd name="adj" fmla="val 6000"/>
            </a:avLst>
          </a:prstGeom>
          <a:solidFill>
            <a:srgbClr val="FB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06440" y="3374136"/>
            <a:ext cx="1783079" cy="320040"/>
          </a:xfrm>
          <a:prstGeom prst="rect">
            <a:avLst/>
          </a:prstGeom>
          <a:noFill/>
        </p:spPr>
        <p:txBody>
          <a:bodyPr wrap="square" lIns="0" rIns="0" tIns="0" bIns="0" anchor="t">
            <a:spAutoFit/>
          </a:bodyPr>
          <a:lstStyle/>
          <a:p>
            <a:pPr algn="l"/>
            <a:r>
              <a:rPr sz="1500" b="1" i="0">
                <a:solidFill>
                  <a:srgbClr val="B85C14"/>
                </a:solidFill>
                <a:latin typeface="Calibri"/>
              </a:rPr>
              <a:t>DeepSeek</a:t>
            </a:r>
          </a:p>
        </p:txBody>
      </p:sp>
      <p:sp>
        <p:nvSpPr>
          <p:cNvPr id="19" name="TextBox 18"/>
          <p:cNvSpPr txBox="1"/>
          <p:nvPr/>
        </p:nvSpPr>
        <p:spPr>
          <a:xfrm>
            <a:off x="5806440" y="3703320"/>
            <a:ext cx="1783079" cy="502920"/>
          </a:xfrm>
          <a:prstGeom prst="rect">
            <a:avLst/>
          </a:prstGeom>
          <a:noFill/>
        </p:spPr>
        <p:txBody>
          <a:bodyPr wrap="square" lIns="0" rIns="0" tIns="0" bIns="0" anchor="t">
            <a:spAutoFit/>
          </a:bodyPr>
          <a:lstStyle/>
          <a:p>
            <a:pPr algn="l"/>
            <a:r>
              <a:rPr sz="1200" b="0" i="0">
                <a:solidFill>
                  <a:srgbClr val="5B6066"/>
                </a:solidFill>
                <a:latin typeface="Calibri"/>
              </a:rPr>
              <a:t>Redacted text only; no images</a:t>
            </a:r>
          </a:p>
        </p:txBody>
      </p:sp>
      <p:sp>
        <p:nvSpPr>
          <p:cNvPr id="20" name="Finance approval"/>
          <p:cNvSpPr/>
          <p:nvPr/>
        </p:nvSpPr>
        <p:spPr>
          <a:xfrm>
            <a:off x="3017520" y="4709160"/>
            <a:ext cx="2286000" cy="1005840"/>
          </a:xfrm>
          <a:prstGeom prst="roundRect">
            <a:avLst>
              <a:gd name="adj" fmla="val 6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0" y="4837176"/>
            <a:ext cx="1965960" cy="320040"/>
          </a:xfrm>
          <a:prstGeom prst="rect">
            <a:avLst/>
          </a:prstGeom>
          <a:noFill/>
        </p:spPr>
        <p:txBody>
          <a:bodyPr wrap="square" lIns="0" rIns="0" tIns="0" bIns="0" anchor="t">
            <a:spAutoFit/>
          </a:bodyPr>
          <a:lstStyle/>
          <a:p>
            <a:pPr algn="l"/>
            <a:r>
              <a:rPr sz="1500" b="1" i="0">
                <a:solidFill>
                  <a:srgbClr val="1B7A50"/>
                </a:solidFill>
                <a:latin typeface="Calibri"/>
              </a:rPr>
              <a:t>Finance approval</a:t>
            </a:r>
          </a:p>
        </p:txBody>
      </p:sp>
      <p:sp>
        <p:nvSpPr>
          <p:cNvPr id="22" name="TextBox 21"/>
          <p:cNvSpPr txBox="1"/>
          <p:nvPr/>
        </p:nvSpPr>
        <p:spPr>
          <a:xfrm>
            <a:off x="3200400" y="5166360"/>
            <a:ext cx="1965960" cy="502920"/>
          </a:xfrm>
          <a:prstGeom prst="rect">
            <a:avLst/>
          </a:prstGeom>
          <a:noFill/>
        </p:spPr>
        <p:txBody>
          <a:bodyPr wrap="square" lIns="0" rIns="0" tIns="0" bIns="0" anchor="t">
            <a:spAutoFit/>
          </a:bodyPr>
          <a:lstStyle/>
          <a:p>
            <a:pPr algn="l"/>
            <a:r>
              <a:rPr sz="1200" b="0" i="0">
                <a:solidFill>
                  <a:srgbClr val="5B6066"/>
                </a:solidFill>
                <a:latin typeface="Calibri"/>
              </a:rPr>
              <a:t>The gate before any record</a:t>
            </a:r>
          </a:p>
        </p:txBody>
      </p:sp>
      <p:sp>
        <p:nvSpPr>
          <p:cNvPr id="23" name="SQLite ledger"/>
          <p:cNvSpPr/>
          <p:nvPr/>
        </p:nvSpPr>
        <p:spPr>
          <a:xfrm>
            <a:off x="5623560" y="4709160"/>
            <a:ext cx="2103120" cy="10058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06440" y="4837176"/>
            <a:ext cx="1783079" cy="320040"/>
          </a:xfrm>
          <a:prstGeom prst="rect">
            <a:avLst/>
          </a:prstGeom>
          <a:noFill/>
        </p:spPr>
        <p:txBody>
          <a:bodyPr wrap="square" lIns="0" rIns="0" tIns="0" bIns="0" anchor="t">
            <a:spAutoFit/>
          </a:bodyPr>
          <a:lstStyle/>
          <a:p>
            <a:pPr algn="l"/>
            <a:r>
              <a:rPr sz="1500" b="1" i="0">
                <a:solidFill>
                  <a:srgbClr val="14171C"/>
                </a:solidFill>
                <a:latin typeface="Calibri"/>
              </a:rPr>
              <a:t>SQLite ledger</a:t>
            </a:r>
          </a:p>
        </p:txBody>
      </p:sp>
      <p:sp>
        <p:nvSpPr>
          <p:cNvPr id="25" name="TextBox 24"/>
          <p:cNvSpPr txBox="1"/>
          <p:nvPr/>
        </p:nvSpPr>
        <p:spPr>
          <a:xfrm>
            <a:off x="5806440" y="5166360"/>
            <a:ext cx="1783079" cy="502920"/>
          </a:xfrm>
          <a:prstGeom prst="rect">
            <a:avLst/>
          </a:prstGeom>
          <a:noFill/>
        </p:spPr>
        <p:txBody>
          <a:bodyPr wrap="square" lIns="0" rIns="0" tIns="0" bIns="0" anchor="t">
            <a:spAutoFit/>
          </a:bodyPr>
          <a:lstStyle/>
          <a:p>
            <a:pPr algn="l"/>
            <a:r>
              <a:rPr sz="1200" b="0" i="0">
                <a:solidFill>
                  <a:srgbClr val="5B6066"/>
                </a:solidFill>
                <a:latin typeface="Calibri"/>
              </a:rPr>
              <a:t>Payments · log · 30-day forecast</a:t>
            </a:r>
          </a:p>
        </p:txBody>
      </p:sp>
      <p:cxnSp>
        <p:nvCxnSpPr>
          <p:cNvPr id="26" name="Connector 25"/>
          <p:cNvCxnSpPr/>
          <p:nvPr/>
        </p:nvCxnSpPr>
        <p:spPr>
          <a:xfrm>
            <a:off x="2697480" y="2286000"/>
            <a:ext cx="320040" cy="0"/>
          </a:xfrm>
          <a:prstGeom prst="line">
            <a:avLst/>
          </a:prstGeom>
          <a:ln w="19050">
            <a:solidFill>
              <a:srgbClr val="5B60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03520" y="2286000"/>
            <a:ext cx="320040" cy="0"/>
          </a:xfrm>
          <a:prstGeom prst="line">
            <a:avLst/>
          </a:prstGeom>
          <a:ln w="19050">
            <a:solidFill>
              <a:srgbClr val="5B60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5120" y="2788920"/>
            <a:ext cx="0" cy="457200"/>
          </a:xfrm>
          <a:prstGeom prst="line">
            <a:avLst/>
          </a:prstGeom>
          <a:ln w="19050">
            <a:solidFill>
              <a:srgbClr val="5B60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160520" y="2788920"/>
            <a:ext cx="0" cy="457200"/>
          </a:xfrm>
          <a:prstGeom prst="line">
            <a:avLst/>
          </a:prstGeom>
          <a:ln w="19050">
            <a:solidFill>
              <a:srgbClr val="5B60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5303520" y="3749039"/>
            <a:ext cx="320040" cy="0"/>
          </a:xfrm>
          <a:prstGeom prst="line">
            <a:avLst/>
          </a:prstGeom>
          <a:ln w="19050">
            <a:solidFill>
              <a:srgbClr val="5B60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160520" y="4251960"/>
            <a:ext cx="0" cy="457200"/>
          </a:xfrm>
          <a:prstGeom prst="line">
            <a:avLst/>
          </a:prstGeom>
          <a:ln w="19050">
            <a:solidFill>
              <a:srgbClr val="5B60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303520" y="5212080"/>
            <a:ext cx="320040" cy="0"/>
          </a:xfrm>
          <a:prstGeom prst="line">
            <a:avLst/>
          </a:prstGeom>
          <a:ln w="19050">
            <a:solidFill>
              <a:srgbClr val="5B60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rust card"/>
          <p:cNvSpPr/>
          <p:nvPr/>
        </p:nvSpPr>
        <p:spPr>
          <a:xfrm>
            <a:off x="8229600" y="1783080"/>
            <a:ext cx="3429000" cy="3931920"/>
          </a:xfrm>
          <a:prstGeom prst="roundRect">
            <a:avLst>
              <a:gd name="adj" fmla="val 5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03920" y="1993392"/>
            <a:ext cx="2926080" cy="274320"/>
          </a:xfrm>
          <a:prstGeom prst="rect">
            <a:avLst/>
          </a:prstGeom>
          <a:noFill/>
        </p:spPr>
        <p:txBody>
          <a:bodyPr wrap="square" lIns="0" rIns="0" tIns="0" bIns="0" anchor="t">
            <a:spAutoFit/>
          </a:bodyPr>
          <a:lstStyle/>
          <a:p>
            <a:pPr algn="l"/>
            <a:r>
              <a:rPr sz="1100" b="1" i="0">
                <a:solidFill>
                  <a:srgbClr val="8FD6B0"/>
                </a:solidFill>
                <a:latin typeface="Calibri"/>
              </a:rPr>
              <a:t>BUILT-IN SAFEGUARDS</a:t>
            </a:r>
          </a:p>
        </p:txBody>
      </p:sp>
      <p:sp>
        <p:nvSpPr>
          <p:cNvPr id="35" name="TextBox 34"/>
          <p:cNvSpPr txBox="1"/>
          <p:nvPr/>
        </p:nvSpPr>
        <p:spPr>
          <a:xfrm>
            <a:off x="8503920" y="2377440"/>
            <a:ext cx="2926080" cy="3291840"/>
          </a:xfrm>
          <a:prstGeom prst="rect">
            <a:avLst/>
          </a:prstGeom>
          <a:noFill/>
        </p:spPr>
        <p:txBody>
          <a:bodyPr wrap="square" lIns="0" rIns="0" tIns="0" bIns="0" anchor="t">
            <a:spAutoFit/>
          </a:bodyPr>
          <a:lstStyle/>
          <a:p>
            <a:pPr algn="l" marL="201168" indent="-201168">
              <a:spcAft>
                <a:spcPts val="700"/>
              </a:spcAft>
              <a:buChar char="•"/>
            </a:pPr>
            <a:r>
              <a:rPr sz="1300" b="0" i="0">
                <a:solidFill>
                  <a:srgbClr val="FFFFFF"/>
                </a:solidFill>
                <a:latin typeface="Calibri"/>
              </a:rPr>
              <a:t>AI cannot approve a payment</a:t>
            </a:r>
          </a:p>
          <a:p>
            <a:pPr algn="l" marL="201168" indent="-201168">
              <a:spcAft>
                <a:spcPts val="700"/>
              </a:spcAft>
              <a:buChar char="•"/>
            </a:pPr>
            <a:r>
              <a:rPr sz="1300" b="0" i="0">
                <a:solidFill>
                  <a:srgbClr val="FFFFFF"/>
                </a:solidFill>
                <a:latin typeface="Calibri"/>
              </a:rPr>
              <a:t>Screenshots are read on our server; account numbers masked before AI</a:t>
            </a:r>
          </a:p>
          <a:p>
            <a:pPr algn="l" marL="201168" indent="-201168">
              <a:spcAft>
                <a:spcPts val="700"/>
              </a:spcAft>
              <a:buChar char="•"/>
            </a:pPr>
            <a:r>
              <a:rPr sz="1300" b="0" i="0">
                <a:solidFill>
                  <a:srgbClr val="FFFFFF"/>
                </a:solidFill>
                <a:latin typeface="Calibri"/>
              </a:rPr>
              <a:t>API key stays server-side</a:t>
            </a:r>
          </a:p>
          <a:p>
            <a:pPr algn="l" marL="201168" indent="-201168">
              <a:spcAft>
                <a:spcPts val="700"/>
              </a:spcAft>
              <a:buChar char="•"/>
            </a:pPr>
            <a:r>
              <a:rPr sz="1300" b="0" i="0">
                <a:solidFill>
                  <a:srgbClr val="FFFFFF"/>
                </a:solidFill>
                <a:latin typeface="Calibri"/>
              </a:rPr>
              <a:t>Retries are safe: one bank credit is allocated once</a:t>
            </a:r>
          </a:p>
          <a:p>
            <a:pPr algn="l" marL="201168" indent="-201168">
              <a:spcAft>
                <a:spcPts val="700"/>
              </a:spcAft>
              <a:buChar char="•"/>
            </a:pPr>
            <a:r>
              <a:rPr sz="1300" b="0" i="0">
                <a:solidFill>
                  <a:srgbClr val="FFFFFF"/>
                </a:solidFill>
                <a:latin typeface="Calibri"/>
              </a:rPr>
              <a:t>Evidence changed? The match must be re-run</a:t>
            </a:r>
          </a:p>
          <a:p>
            <a:pPr algn="l" marL="201168" indent="-201168">
              <a:spcAft>
                <a:spcPts val="700"/>
              </a:spcAft>
              <a:buChar char="•"/>
            </a:pPr>
            <a:r>
              <a:rPr sz="1300" b="0" i="0">
                <a:solidFill>
                  <a:srgbClr val="FFFFFF"/>
                </a:solidFill>
                <a:latin typeface="Calibri"/>
              </a:rPr>
              <a:t>AI down? Template + manual fallback</a:t>
            </a:r>
          </a:p>
        </p:txBody>
      </p:sp>
      <p:sp>
        <p:nvSpPr>
          <p:cNvPr id="36"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Source: github.com/jake2ace/SDC-Tracker (docs/PRODUCT_SPEC.md, submission/PRODUCT_NARRATIVE.md).</a:t>
            </a:r>
          </a:p>
        </p:txBody>
      </p:sp>
      <p:sp>
        <p:nvSpPr>
          <p:cNvPr id="37"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10/14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11 · PROOF IT WORKS</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Tested with real OCR and AI calls, errors kept in the score</a:t>
            </a:r>
          </a:p>
        </p:txBody>
      </p:sp>
      <p:sp>
        <p:nvSpPr>
          <p:cNvPr id="4" name="Subtitle"/>
          <p:cNvSpPr txBox="1"/>
          <p:nvPr/>
        </p:nvSpPr>
        <p:spPr>
          <a:xfrm>
            <a:off x="548640" y="1298448"/>
            <a:ext cx="11064240" cy="365760"/>
          </a:xfrm>
          <a:prstGeom prst="rect">
            <a:avLst/>
          </a:prstGeom>
          <a:noFill/>
        </p:spPr>
        <p:txBody>
          <a:bodyPr wrap="square" lIns="0" rIns="0" tIns="0" bIns="0" anchor="t">
            <a:spAutoFit/>
          </a:bodyPr>
          <a:lstStyle/>
          <a:p>
            <a:pPr algn="l"/>
            <a:r>
              <a:rPr sz="1600" b="0" i="0">
                <a:solidFill>
                  <a:srgbClr val="5B6066"/>
                </a:solidFill>
                <a:latin typeface="Calibri"/>
              </a:rPr>
              <a:t>Frozen synthetic set, run on 24 Oct 2026: 40 receipt images (4 layouts incl. cropped, noisy, dark) and 40 replies (EN, 中文, BM)</a:t>
            </a:r>
          </a:p>
        </p:txBody>
      </p:sp>
      <p:graphicFrame>
        <p:nvGraphicFramePr>
          <p:cNvPr id="5" name="Chart 4"/>
          <p:cNvGraphicFramePr>
            <a:graphicFrameLocks noGrp="1"/>
          </p:cNvGraphicFramePr>
          <p:nvPr/>
        </p:nvGraphicFramePr>
        <p:xfrm>
          <a:off x="548640" y="1920240"/>
          <a:ext cx="5669280" cy="3566160"/>
        </p:xfrm>
        <a:graphic>
          <a:graphicData uri="http://schemas.openxmlformats.org/drawingml/2006/chart">
            <c:chart xmlns:c="http://schemas.openxmlformats.org/drawingml/2006/chart" r:id="rId2"/>
          </a:graphicData>
        </a:graphic>
      </p:graphicFrame>
      <p:sp>
        <p:nvSpPr>
          <p:cNvPr id="6" name="TextBox 5"/>
          <p:cNvSpPr txBox="1"/>
          <p:nvPr/>
        </p:nvSpPr>
        <p:spPr>
          <a:xfrm>
            <a:off x="548640" y="5532120"/>
            <a:ext cx="5669280" cy="548640"/>
          </a:xfrm>
          <a:prstGeom prst="rect">
            <a:avLst/>
          </a:prstGeom>
          <a:noFill/>
        </p:spPr>
        <p:txBody>
          <a:bodyPr wrap="square" lIns="0" rIns="0" tIns="0" bIns="0" anchor="t">
            <a:spAutoFit/>
          </a:bodyPr>
          <a:lstStyle/>
          <a:p>
            <a:pPr algn="l"/>
            <a:r>
              <a:rPr sz="1200" b="0" i="0">
                <a:solidFill>
                  <a:srgbClr val="5B6066"/>
                </a:solidFill>
                <a:latin typeface="Calibri"/>
              </a:rPr>
              <a:t>Reference misses: 5 letter O vs zero OCR confusions, kept in the score rather than corrected.</a:t>
            </a:r>
          </a:p>
        </p:txBody>
      </p:sp>
      <p:sp>
        <p:nvSpPr>
          <p:cNvPr id="7" name="Tile 1"/>
          <p:cNvSpPr/>
          <p:nvPr/>
        </p:nvSpPr>
        <p:spPr>
          <a:xfrm>
            <a:off x="6583680" y="1920240"/>
            <a:ext cx="2377440" cy="16916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2103120"/>
            <a:ext cx="2011680" cy="685800"/>
          </a:xfrm>
          <a:prstGeom prst="rect">
            <a:avLst/>
          </a:prstGeom>
          <a:noFill/>
        </p:spPr>
        <p:txBody>
          <a:bodyPr wrap="square" lIns="0" rIns="0" tIns="0" bIns="0" anchor="t">
            <a:spAutoFit/>
          </a:bodyPr>
          <a:lstStyle/>
          <a:p>
            <a:pPr algn="l"/>
            <a:r>
              <a:rPr sz="3400" b="1" i="0">
                <a:solidFill>
                  <a:srgbClr val="1B7A50"/>
                </a:solidFill>
                <a:latin typeface="Cambria"/>
              </a:rPr>
              <a:t>11/11</a:t>
            </a:r>
          </a:p>
        </p:txBody>
      </p:sp>
      <p:sp>
        <p:nvSpPr>
          <p:cNvPr id="9" name="TextBox 8"/>
          <p:cNvSpPr txBox="1"/>
          <p:nvPr/>
        </p:nvSpPr>
        <p:spPr>
          <a:xfrm>
            <a:off x="6812280" y="2834640"/>
            <a:ext cx="1965960" cy="731520"/>
          </a:xfrm>
          <a:prstGeom prst="rect">
            <a:avLst/>
          </a:prstGeom>
          <a:noFill/>
        </p:spPr>
        <p:txBody>
          <a:bodyPr wrap="square" lIns="0" rIns="0" tIns="0" bIns="0" anchor="t">
            <a:spAutoFit/>
          </a:bodyPr>
          <a:lstStyle/>
          <a:p>
            <a:pPr algn="l"/>
            <a:r>
              <a:rPr sz="1300" b="0" i="0">
                <a:solidFill>
                  <a:srgbClr val="14171C"/>
                </a:solidFill>
                <a:latin typeface="Calibri"/>
              </a:rPr>
              <a:t>low-confidence replies sent to a person</a:t>
            </a:r>
          </a:p>
        </p:txBody>
      </p:sp>
      <p:sp>
        <p:nvSpPr>
          <p:cNvPr id="10" name="Tile 2"/>
          <p:cNvSpPr/>
          <p:nvPr/>
        </p:nvSpPr>
        <p:spPr>
          <a:xfrm>
            <a:off x="9144000" y="1920240"/>
            <a:ext cx="2377440" cy="16916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72600" y="2103120"/>
            <a:ext cx="2011680" cy="685800"/>
          </a:xfrm>
          <a:prstGeom prst="rect">
            <a:avLst/>
          </a:prstGeom>
          <a:noFill/>
        </p:spPr>
        <p:txBody>
          <a:bodyPr wrap="square" lIns="0" rIns="0" tIns="0" bIns="0" anchor="t">
            <a:spAutoFit/>
          </a:bodyPr>
          <a:lstStyle/>
          <a:p>
            <a:pPr algn="l"/>
            <a:r>
              <a:rPr sz="3400" b="1" i="0">
                <a:solidFill>
                  <a:srgbClr val="1B7A50"/>
                </a:solidFill>
                <a:latin typeface="Cambria"/>
              </a:rPr>
              <a:t>30/30</a:t>
            </a:r>
          </a:p>
        </p:txBody>
      </p:sp>
      <p:sp>
        <p:nvSpPr>
          <p:cNvPr id="12" name="TextBox 11"/>
          <p:cNvSpPr txBox="1"/>
          <p:nvPr/>
        </p:nvSpPr>
        <p:spPr>
          <a:xfrm>
            <a:off x="9372600" y="2834640"/>
            <a:ext cx="1965960" cy="731520"/>
          </a:xfrm>
          <a:prstGeom prst="rect">
            <a:avLst/>
          </a:prstGeom>
          <a:noFill/>
        </p:spPr>
        <p:txBody>
          <a:bodyPr wrap="square" lIns="0" rIns="0" tIns="0" bIns="0" anchor="t">
            <a:spAutoFit/>
          </a:bodyPr>
          <a:lstStyle/>
          <a:p>
            <a:pPr algn="l"/>
            <a:r>
              <a:rPr sz="1300" b="0" i="0">
                <a:solidFill>
                  <a:srgbClr val="14171C"/>
                </a:solidFill>
                <a:latin typeface="Calibri"/>
              </a:rPr>
              <a:t>matcher cases correct · 0 unsafe approvals</a:t>
            </a:r>
          </a:p>
        </p:txBody>
      </p:sp>
      <p:sp>
        <p:nvSpPr>
          <p:cNvPr id="13" name="Tile 3"/>
          <p:cNvSpPr/>
          <p:nvPr/>
        </p:nvSpPr>
        <p:spPr>
          <a:xfrm>
            <a:off x="6583680" y="3794760"/>
            <a:ext cx="2377440" cy="16916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3977640"/>
            <a:ext cx="2011680" cy="685800"/>
          </a:xfrm>
          <a:prstGeom prst="rect">
            <a:avLst/>
          </a:prstGeom>
          <a:noFill/>
        </p:spPr>
        <p:txBody>
          <a:bodyPr wrap="square" lIns="0" rIns="0" tIns="0" bIns="0" anchor="t">
            <a:spAutoFit/>
          </a:bodyPr>
          <a:lstStyle/>
          <a:p>
            <a:pPr algn="l"/>
            <a:r>
              <a:rPr sz="3400" b="1" i="0">
                <a:solidFill>
                  <a:srgbClr val="1B7A50"/>
                </a:solidFill>
                <a:latin typeface="Cambria"/>
              </a:rPr>
              <a:t>40/40</a:t>
            </a:r>
          </a:p>
        </p:txBody>
      </p:sp>
      <p:sp>
        <p:nvSpPr>
          <p:cNvPr id="15" name="TextBox 14"/>
          <p:cNvSpPr txBox="1"/>
          <p:nvPr/>
        </p:nvSpPr>
        <p:spPr>
          <a:xfrm>
            <a:off x="6812280" y="4709160"/>
            <a:ext cx="1965960" cy="731520"/>
          </a:xfrm>
          <a:prstGeom prst="rect">
            <a:avLst/>
          </a:prstGeom>
          <a:noFill/>
        </p:spPr>
        <p:txBody>
          <a:bodyPr wrap="square" lIns="0" rIns="0" tIns="0" bIns="0" anchor="t">
            <a:spAutoFit/>
          </a:bodyPr>
          <a:lstStyle/>
          <a:p>
            <a:pPr algn="l"/>
            <a:r>
              <a:rPr sz="1300" b="0" i="0">
                <a:solidFill>
                  <a:srgbClr val="14171C"/>
                </a:solidFill>
                <a:latin typeface="Calibri"/>
              </a:rPr>
              <a:t>daily forecast checks match hand calculation</a:t>
            </a:r>
          </a:p>
        </p:txBody>
      </p:sp>
      <p:sp>
        <p:nvSpPr>
          <p:cNvPr id="16" name="Tile 4"/>
          <p:cNvSpPr/>
          <p:nvPr/>
        </p:nvSpPr>
        <p:spPr>
          <a:xfrm>
            <a:off x="9144000" y="3794760"/>
            <a:ext cx="2377440" cy="16916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72600" y="3977640"/>
            <a:ext cx="2011680" cy="685800"/>
          </a:xfrm>
          <a:prstGeom prst="rect">
            <a:avLst/>
          </a:prstGeom>
          <a:noFill/>
        </p:spPr>
        <p:txBody>
          <a:bodyPr wrap="square" lIns="0" rIns="0" tIns="0" bIns="0" anchor="t">
            <a:spAutoFit/>
          </a:bodyPr>
          <a:lstStyle/>
          <a:p>
            <a:pPr algn="l"/>
            <a:r>
              <a:rPr sz="3400" b="1" i="0">
                <a:solidFill>
                  <a:srgbClr val="14171C"/>
                </a:solidFill>
                <a:latin typeface="Cambria"/>
              </a:rPr>
              <a:t>69</a:t>
            </a:r>
          </a:p>
        </p:txBody>
      </p:sp>
      <p:sp>
        <p:nvSpPr>
          <p:cNvPr id="18" name="TextBox 17"/>
          <p:cNvSpPr txBox="1"/>
          <p:nvPr/>
        </p:nvSpPr>
        <p:spPr>
          <a:xfrm>
            <a:off x="9372600" y="4709160"/>
            <a:ext cx="1965960" cy="731520"/>
          </a:xfrm>
          <a:prstGeom prst="rect">
            <a:avLst/>
          </a:prstGeom>
          <a:noFill/>
        </p:spPr>
        <p:txBody>
          <a:bodyPr wrap="square" lIns="0" rIns="0" tIns="0" bIns="0" anchor="t">
            <a:spAutoFit/>
          </a:bodyPr>
          <a:lstStyle/>
          <a:p>
            <a:pPr algn="l"/>
            <a:r>
              <a:rPr sz="1300" b="0" i="0">
                <a:solidFill>
                  <a:srgbClr val="14171C"/>
                </a:solidFill>
                <a:latin typeface="Calibri"/>
              </a:rPr>
              <a:t>Historical baseline: 50 API, 16 UI, 3 browser runs</a:t>
            </a:r>
          </a:p>
        </p:txBody>
      </p:sp>
      <p:sp>
        <p:nvSpPr>
          <p:cNvPr id="19" name="TextBox 18"/>
          <p:cNvSpPr txBox="1"/>
          <p:nvPr/>
        </p:nvSpPr>
        <p:spPr>
          <a:xfrm>
            <a:off x="6583680" y="5715000"/>
            <a:ext cx="5029200" cy="548640"/>
          </a:xfrm>
          <a:prstGeom prst="rect">
            <a:avLst/>
          </a:prstGeom>
          <a:noFill/>
        </p:spPr>
        <p:txBody>
          <a:bodyPr wrap="square" lIns="0" rIns="0" tIns="0" bIns="0" anchor="t">
            <a:spAutoFit/>
          </a:bodyPr>
          <a:lstStyle/>
          <a:p>
            <a:pPr algn="l"/>
            <a:r>
              <a:rPr sz="1200" b="1" i="0">
                <a:solidFill>
                  <a:srgbClr val="B85C14"/>
                </a:solidFill>
                <a:latin typeface="Calibri"/>
              </a:rPr>
              <a:t>Synthetic accuracy, not real-bank accuracy. Staff time savings have not been measured yet.</a:t>
            </a:r>
          </a:p>
        </p:txBody>
      </p:sp>
      <p:sp>
        <p:nvSpPr>
          <p:cNvPr id="20" name="Source"/>
          <p:cNvSpPr txBox="1"/>
          <p:nvPr/>
        </p:nvSpPr>
        <p:spPr>
          <a:xfrm>
            <a:off x="548640" y="6428232"/>
            <a:ext cx="9326880" cy="274320"/>
          </a:xfrm>
          <a:prstGeom prst="rect">
            <a:avLst/>
          </a:prstGeom>
          <a:noFill/>
        </p:spPr>
        <p:txBody>
          <a:bodyPr wrap="square" lIns="0" rIns="0" tIns="0" bIns="0" anchor="t">
            <a:spAutoFit/>
          </a:bodyPr>
          <a:lstStyle/>
          <a:p>
            <a:pPr algn="l">
              <a:lnSpc>
                <a:spcPts val="1050"/>
              </a:lnSpc>
            </a:pPr>
            <a:r>
              <a:rPr sz="1000" b="0" i="0">
                <a:solidFill>
                  <a:srgbClr val="5B6066"/>
                </a:solidFill>
                <a:latin typeface="Calibri"/>
              </a:rPr>
              <a:t>Source: docs/evaluation/STEP7-METRICS.md and STEP7-INTEGRATION.md in the SDC-Tracker repository.</a:t>
            </a:r>
          </a:p>
          <a:p>
            <a:pPr algn="l">
              <a:lnSpc>
                <a:spcPts val="1050"/>
              </a:lnSpc>
            </a:pPr>
            <a:r>
              <a:rPr sz="1000" b="0" i="0">
                <a:solidFill>
                  <a:srgbClr val="5B6066"/>
                </a:solidFill>
                <a:latin typeface="Calibri"/>
              </a:rPr>
              <a:t>24 Oct 2026, c438678: 60 backend + 23 frontend checks and 13 contract/data groups. The 3 baseline browser runs were not rerun.</a:t>
            </a:r>
          </a:p>
        </p:txBody>
      </p:sp>
      <p:sp>
        <p:nvSpPr>
          <p:cNvPr id="21"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11/14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12 · FIT AND IMPACT</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Built to plug into Orbyte and serve many SMEs</a:t>
            </a:r>
          </a:p>
        </p:txBody>
      </p:sp>
      <p:sp>
        <p:nvSpPr>
          <p:cNvPr id="4" name="Fits the Orbyte hub"/>
          <p:cNvSpPr/>
          <p:nvPr/>
        </p:nvSpPr>
        <p:spPr>
          <a:xfrm>
            <a:off x="548640" y="1463040"/>
            <a:ext cx="5440680" cy="224028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1691640"/>
            <a:ext cx="347472" cy="347472"/>
          </a:xfrm>
          <a:prstGeom prst="ellipse">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libri"/>
              </a:rPr>
              <a:t>1</a:t>
            </a:r>
          </a:p>
        </p:txBody>
      </p:sp>
      <p:sp>
        <p:nvSpPr>
          <p:cNvPr id="6" name="TextBox 5"/>
          <p:cNvSpPr txBox="1"/>
          <p:nvPr/>
        </p:nvSpPr>
        <p:spPr>
          <a:xfrm>
            <a:off x="1325880" y="1682496"/>
            <a:ext cx="4480560" cy="411480"/>
          </a:xfrm>
          <a:prstGeom prst="rect">
            <a:avLst/>
          </a:prstGeom>
          <a:noFill/>
        </p:spPr>
        <p:txBody>
          <a:bodyPr wrap="square" lIns="0" rIns="0" tIns="0" bIns="0" anchor="t">
            <a:spAutoFit/>
          </a:bodyPr>
          <a:lstStyle/>
          <a:p>
            <a:pPr algn="l"/>
            <a:r>
              <a:rPr sz="2000" b="1" i="0">
                <a:solidFill>
                  <a:srgbClr val="14171C"/>
                </a:solidFill>
                <a:latin typeface="Cambria"/>
              </a:rPr>
              <a:t>Fits the Orbyte hub</a:t>
            </a:r>
          </a:p>
        </p:txBody>
      </p:sp>
      <p:sp>
        <p:nvSpPr>
          <p:cNvPr id="7" name="TextBox 6"/>
          <p:cNvSpPr txBox="1"/>
          <p:nvPr/>
        </p:nvSpPr>
        <p:spPr>
          <a:xfrm>
            <a:off x="822959" y="2240280"/>
            <a:ext cx="4937760" cy="1097280"/>
          </a:xfrm>
          <a:prstGeom prst="rect">
            <a:avLst/>
          </a:prstGeom>
          <a:noFill/>
        </p:spPr>
        <p:txBody>
          <a:bodyPr wrap="square" lIns="0" rIns="0" tIns="0" bIns="0" anchor="t">
            <a:spAutoFit/>
          </a:bodyPr>
          <a:lstStyle/>
          <a:p>
            <a:pPr algn="l" marL="201168" indent="-201168">
              <a:spcAft>
                <a:spcPts val="400"/>
              </a:spcAft>
              <a:buChar char="•"/>
            </a:pPr>
            <a:r>
              <a:rPr sz="1400" b="0" i="0">
                <a:solidFill>
                  <a:srgbClr val="14171C"/>
                </a:solidFill>
                <a:latin typeface="Calibri"/>
              </a:rPr>
              <a:t>Trigger: milestones in Orbyte Work</a:t>
            </a:r>
          </a:p>
          <a:p>
            <a:pPr algn="l" marL="201168" indent="-201168">
              <a:spcAft>
                <a:spcPts val="400"/>
              </a:spcAft>
              <a:buChar char="•"/>
            </a:pPr>
            <a:r>
              <a:rPr sz="1400" b="0" i="0">
                <a:solidFill>
                  <a:srgbClr val="14171C"/>
                </a:solidFill>
                <a:latin typeface="Calibri"/>
              </a:rPr>
              <a:t>Results for Connect partner areas: payments, collections, accounting</a:t>
            </a:r>
          </a:p>
          <a:p>
            <a:pPr algn="l" marL="201168" indent="-201168">
              <a:spcAft>
                <a:spcPts val="400"/>
              </a:spcAft>
              <a:buChar char="•"/>
            </a:pPr>
            <a:r>
              <a:rPr sz="1400" b="0" i="0">
                <a:solidFill>
                  <a:srgbClr val="14171C"/>
                </a:solidFill>
                <a:latin typeface="Calibri"/>
              </a:rPr>
              <a:t>Uses shared roles, approvals and audit trail</a:t>
            </a:r>
          </a:p>
        </p:txBody>
      </p:sp>
      <p:sp>
        <p:nvSpPr>
          <p:cNvPr id="8" name="TextBox 7"/>
          <p:cNvSpPr txBox="1"/>
          <p:nvPr/>
        </p:nvSpPr>
        <p:spPr>
          <a:xfrm>
            <a:off x="822959" y="3337560"/>
            <a:ext cx="4937760" cy="274320"/>
          </a:xfrm>
          <a:prstGeom prst="rect">
            <a:avLst/>
          </a:prstGeom>
          <a:noFill/>
        </p:spPr>
        <p:txBody>
          <a:bodyPr wrap="square" lIns="0" rIns="0" tIns="0" bIns="0" anchor="t">
            <a:spAutoFit/>
          </a:bodyPr>
          <a:lstStyle/>
          <a:p>
            <a:pPr algn="l"/>
            <a:r>
              <a:rPr sz="1100" b="0" i="1">
                <a:solidFill>
                  <a:srgbClr val="5B6066"/>
                </a:solidFill>
                <a:latin typeface="Calibri"/>
              </a:rPr>
              <a:t>Proposed integration · no live Orbyte link yet</a:t>
            </a:r>
          </a:p>
        </p:txBody>
      </p:sp>
      <p:sp>
        <p:nvSpPr>
          <p:cNvPr id="9" name="Reusable across SMEs"/>
          <p:cNvSpPr/>
          <p:nvPr/>
        </p:nvSpPr>
        <p:spPr>
          <a:xfrm>
            <a:off x="6172200" y="1463040"/>
            <a:ext cx="5440680" cy="224028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46520" y="1691640"/>
            <a:ext cx="347472" cy="347472"/>
          </a:xfrm>
          <a:prstGeom prst="ellipse">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libri"/>
              </a:rPr>
              <a:t>2</a:t>
            </a:r>
          </a:p>
        </p:txBody>
      </p:sp>
      <p:sp>
        <p:nvSpPr>
          <p:cNvPr id="11" name="TextBox 10"/>
          <p:cNvSpPr txBox="1"/>
          <p:nvPr/>
        </p:nvSpPr>
        <p:spPr>
          <a:xfrm>
            <a:off x="6949440" y="1682496"/>
            <a:ext cx="4480560" cy="411480"/>
          </a:xfrm>
          <a:prstGeom prst="rect">
            <a:avLst/>
          </a:prstGeom>
          <a:noFill/>
        </p:spPr>
        <p:txBody>
          <a:bodyPr wrap="square" lIns="0" rIns="0" tIns="0" bIns="0" anchor="t">
            <a:spAutoFit/>
          </a:bodyPr>
          <a:lstStyle/>
          <a:p>
            <a:pPr algn="l"/>
            <a:r>
              <a:rPr sz="2000" b="1" i="0">
                <a:solidFill>
                  <a:srgbClr val="14171C"/>
                </a:solidFill>
                <a:latin typeface="Cambria"/>
              </a:rPr>
              <a:t>Reusable across SMEs</a:t>
            </a:r>
          </a:p>
        </p:txBody>
      </p:sp>
      <p:sp>
        <p:nvSpPr>
          <p:cNvPr id="12" name="TextBox 11"/>
          <p:cNvSpPr txBox="1"/>
          <p:nvPr/>
        </p:nvSpPr>
        <p:spPr>
          <a:xfrm>
            <a:off x="6446520" y="2240280"/>
            <a:ext cx="4937760" cy="1097280"/>
          </a:xfrm>
          <a:prstGeom prst="rect">
            <a:avLst/>
          </a:prstGeom>
          <a:noFill/>
        </p:spPr>
        <p:txBody>
          <a:bodyPr wrap="square" lIns="0" rIns="0" tIns="0" bIns="0" anchor="t">
            <a:spAutoFit/>
          </a:bodyPr>
          <a:lstStyle/>
          <a:p>
            <a:pPr algn="l" marL="201168" indent="-201168">
              <a:spcAft>
                <a:spcPts val="400"/>
              </a:spcAft>
              <a:buChar char="•"/>
            </a:pPr>
            <a:r>
              <a:rPr sz="1400" b="0" i="0">
                <a:solidFill>
                  <a:srgbClr val="14171C"/>
                </a:solidFill>
                <a:latin typeface="Calibri"/>
              </a:rPr>
              <a:t>Two demo companies with separate data and forecasts</a:t>
            </a:r>
          </a:p>
          <a:p>
            <a:pPr algn="l" marL="201168" indent="-201168">
              <a:spcAft>
                <a:spcPts val="400"/>
              </a:spcAft>
              <a:buChar char="•"/>
            </a:pPr>
            <a:r>
              <a:rPr sz="1400" b="0" i="0">
                <a:solidFill>
                  <a:srgbClr val="14171C"/>
                </a:solidFill>
                <a:latin typeface="Calibri"/>
              </a:rPr>
              <a:t>Any firm that bills by milestone and is paid by transfer</a:t>
            </a:r>
          </a:p>
          <a:p>
            <a:pPr algn="l" marL="201168" indent="-201168">
              <a:spcAft>
                <a:spcPts val="400"/>
              </a:spcAft>
              <a:buChar char="•"/>
            </a:pPr>
            <a:r>
              <a:rPr sz="1400" b="0" i="0">
                <a:solidFill>
                  <a:srgbClr val="14171C"/>
                </a:solidFill>
                <a:latin typeface="Calibri"/>
              </a:rPr>
              <a:t>Interface in English, 中文 and Bahasa Melayu</a:t>
            </a:r>
          </a:p>
        </p:txBody>
      </p:sp>
      <p:sp>
        <p:nvSpPr>
          <p:cNvPr id="13" name="TextBox 12"/>
          <p:cNvSpPr txBox="1"/>
          <p:nvPr/>
        </p:nvSpPr>
        <p:spPr>
          <a:xfrm>
            <a:off x="6446520" y="3337560"/>
            <a:ext cx="4937760" cy="274320"/>
          </a:xfrm>
          <a:prstGeom prst="rect">
            <a:avLst/>
          </a:prstGeom>
          <a:noFill/>
        </p:spPr>
        <p:txBody>
          <a:bodyPr wrap="square" lIns="0" rIns="0" tIns="0" bIns="0" anchor="t">
            <a:spAutoFit/>
          </a:bodyPr>
          <a:lstStyle/>
          <a:p>
            <a:pPr algn="l"/>
            <a:r>
              <a:rPr sz="1100" b="0" i="1">
                <a:solidFill>
                  <a:srgbClr val="5B6066"/>
                </a:solidFill>
                <a:latin typeface="Calibri"/>
              </a:rPr>
              <a:t>Shown in the live app</a:t>
            </a:r>
          </a:p>
        </p:txBody>
      </p:sp>
      <p:sp>
        <p:nvSpPr>
          <p:cNvPr id="14" name="Business model"/>
          <p:cNvSpPr/>
          <p:nvPr/>
        </p:nvSpPr>
        <p:spPr>
          <a:xfrm>
            <a:off x="548640" y="3931920"/>
            <a:ext cx="5440680" cy="224028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59" y="4160520"/>
            <a:ext cx="347472" cy="347472"/>
          </a:xfrm>
          <a:prstGeom prst="ellipse">
            <a:avLst/>
          </a:prstGeom>
          <a:solidFill>
            <a:srgbClr val="B85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libri"/>
              </a:rPr>
              <a:t>3</a:t>
            </a:r>
          </a:p>
        </p:txBody>
      </p:sp>
      <p:sp>
        <p:nvSpPr>
          <p:cNvPr id="16" name="TextBox 15"/>
          <p:cNvSpPr txBox="1"/>
          <p:nvPr/>
        </p:nvSpPr>
        <p:spPr>
          <a:xfrm>
            <a:off x="1325880" y="4151376"/>
            <a:ext cx="4480560" cy="411480"/>
          </a:xfrm>
          <a:prstGeom prst="rect">
            <a:avLst/>
          </a:prstGeom>
          <a:noFill/>
        </p:spPr>
        <p:txBody>
          <a:bodyPr wrap="square" lIns="0" rIns="0" tIns="0" bIns="0" anchor="t">
            <a:spAutoFit/>
          </a:bodyPr>
          <a:lstStyle/>
          <a:p>
            <a:pPr algn="l"/>
            <a:r>
              <a:rPr sz="2000" b="1" i="0">
                <a:solidFill>
                  <a:srgbClr val="14171C"/>
                </a:solidFill>
                <a:latin typeface="Cambria"/>
              </a:rPr>
              <a:t>Business model</a:t>
            </a:r>
          </a:p>
        </p:txBody>
      </p:sp>
      <p:sp>
        <p:nvSpPr>
          <p:cNvPr id="17" name="TextBox 16"/>
          <p:cNvSpPr txBox="1"/>
          <p:nvPr/>
        </p:nvSpPr>
        <p:spPr>
          <a:xfrm>
            <a:off x="822959" y="4709160"/>
            <a:ext cx="4937760" cy="1097280"/>
          </a:xfrm>
          <a:prstGeom prst="rect">
            <a:avLst/>
          </a:prstGeom>
          <a:noFill/>
        </p:spPr>
        <p:txBody>
          <a:bodyPr wrap="square" lIns="0" rIns="0" tIns="0" bIns="0" anchor="t">
            <a:spAutoFit/>
          </a:bodyPr>
          <a:lstStyle/>
          <a:p>
            <a:pPr algn="l" marL="201168" indent="-201168">
              <a:spcAft>
                <a:spcPts val="400"/>
              </a:spcAft>
              <a:buChar char="•"/>
            </a:pPr>
            <a:r>
              <a:rPr sz="1400" b="0" i="0">
                <a:solidFill>
                  <a:srgbClr val="14171C"/>
                </a:solidFill>
                <a:latin typeface="Calibri"/>
              </a:rPr>
              <a:t>Usage-based, like Orbyte's credit wallet</a:t>
            </a:r>
          </a:p>
          <a:p>
            <a:pPr algn="l" marL="201168" indent="-201168">
              <a:spcAft>
                <a:spcPts val="400"/>
              </a:spcAft>
              <a:buChar char="•"/>
            </a:pPr>
            <a:r>
              <a:rPr sz="1400" b="0" i="0">
                <a:solidFill>
                  <a:srgbClr val="14171C"/>
                </a:solidFill>
                <a:latin typeface="Calibri"/>
              </a:rPr>
              <a:t>Charged per verified payment check, not per seat</a:t>
            </a:r>
          </a:p>
          <a:p>
            <a:pPr algn="l" marL="201168" indent="-201168">
              <a:spcAft>
                <a:spcPts val="400"/>
              </a:spcAft>
              <a:buChar char="•"/>
            </a:pPr>
            <a:r>
              <a:rPr sz="1400" b="0" i="0">
                <a:solidFill>
                  <a:srgbClr val="14171C"/>
                </a:solidFill>
                <a:latin typeface="Calibri"/>
              </a:rPr>
              <a:t>Free monthly quota for micro-firms</a:t>
            </a:r>
          </a:p>
        </p:txBody>
      </p:sp>
      <p:sp>
        <p:nvSpPr>
          <p:cNvPr id="18" name="TextBox 17"/>
          <p:cNvSpPr txBox="1"/>
          <p:nvPr/>
        </p:nvSpPr>
        <p:spPr>
          <a:xfrm>
            <a:off x="822959" y="5806440"/>
            <a:ext cx="4937760" cy="274320"/>
          </a:xfrm>
          <a:prstGeom prst="rect">
            <a:avLst/>
          </a:prstGeom>
          <a:noFill/>
        </p:spPr>
        <p:txBody>
          <a:bodyPr wrap="square" lIns="0" rIns="0" tIns="0" bIns="0" anchor="t">
            <a:spAutoFit/>
          </a:bodyPr>
          <a:lstStyle/>
          <a:p>
            <a:pPr algn="l"/>
            <a:r>
              <a:rPr sz="1100" b="0" i="1">
                <a:solidFill>
                  <a:srgbClr val="5B6066"/>
                </a:solidFill>
                <a:latin typeface="Calibri"/>
              </a:rPr>
              <a:t>Proposal · pricing not tested</a:t>
            </a:r>
          </a:p>
        </p:txBody>
      </p:sp>
      <p:sp>
        <p:nvSpPr>
          <p:cNvPr id="19" name="SDG 8 impact"/>
          <p:cNvSpPr/>
          <p:nvPr/>
        </p:nvSpPr>
        <p:spPr>
          <a:xfrm>
            <a:off x="6172200" y="3931920"/>
            <a:ext cx="5440680" cy="224028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160520"/>
            <a:ext cx="347472" cy="347472"/>
          </a:xfrm>
          <a:prstGeom prst="ellipse">
            <a:avLst/>
          </a:prstGeom>
          <a:solidFill>
            <a:srgbClr val="B85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libri"/>
              </a:rPr>
              <a:t>4</a:t>
            </a:r>
          </a:p>
        </p:txBody>
      </p:sp>
      <p:sp>
        <p:nvSpPr>
          <p:cNvPr id="21" name="TextBox 20"/>
          <p:cNvSpPr txBox="1"/>
          <p:nvPr/>
        </p:nvSpPr>
        <p:spPr>
          <a:xfrm>
            <a:off x="6949440" y="4151376"/>
            <a:ext cx="4480560" cy="411480"/>
          </a:xfrm>
          <a:prstGeom prst="rect">
            <a:avLst/>
          </a:prstGeom>
          <a:noFill/>
        </p:spPr>
        <p:txBody>
          <a:bodyPr wrap="square" lIns="0" rIns="0" tIns="0" bIns="0" anchor="t">
            <a:spAutoFit/>
          </a:bodyPr>
          <a:lstStyle/>
          <a:p>
            <a:pPr algn="l"/>
            <a:r>
              <a:rPr sz="2000" b="1" i="0">
                <a:solidFill>
                  <a:srgbClr val="14171C"/>
                </a:solidFill>
                <a:latin typeface="Cambria"/>
              </a:rPr>
              <a:t>SDG 8 impact</a:t>
            </a:r>
          </a:p>
        </p:txBody>
      </p:sp>
      <p:sp>
        <p:nvSpPr>
          <p:cNvPr id="22" name="TextBox 21"/>
          <p:cNvSpPr txBox="1"/>
          <p:nvPr/>
        </p:nvSpPr>
        <p:spPr>
          <a:xfrm>
            <a:off x="6446520" y="4709160"/>
            <a:ext cx="4937760" cy="1097280"/>
          </a:xfrm>
          <a:prstGeom prst="rect">
            <a:avLst/>
          </a:prstGeom>
          <a:noFill/>
        </p:spPr>
        <p:txBody>
          <a:bodyPr wrap="square" lIns="0" rIns="0" tIns="0" bIns="0" anchor="t">
            <a:spAutoFit/>
          </a:bodyPr>
          <a:lstStyle/>
          <a:p>
            <a:pPr algn="l" marL="201168" indent="-201168">
              <a:spcAft>
                <a:spcPts val="400"/>
              </a:spcAft>
              <a:buChar char="•"/>
            </a:pPr>
            <a:r>
              <a:rPr sz="1400" b="0" i="0">
                <a:solidFill>
                  <a:srgbClr val="14171C"/>
                </a:solidFill>
                <a:latin typeface="Calibri"/>
              </a:rPr>
              <a:t>8.2: productivity through technology (less manual chasing and checking)</a:t>
            </a:r>
          </a:p>
          <a:p>
            <a:pPr algn="l" marL="201168" indent="-201168">
              <a:spcAft>
                <a:spcPts val="400"/>
              </a:spcAft>
              <a:buChar char="•"/>
            </a:pPr>
            <a:r>
              <a:rPr sz="1400" b="0" i="0">
                <a:solidFill>
                  <a:srgbClr val="14171C"/>
                </a:solidFill>
                <a:latin typeface="Calibri"/>
              </a:rPr>
              <a:t>8.3: MSME growth (fewer missed balances, clearer cash)</a:t>
            </a:r>
          </a:p>
        </p:txBody>
      </p:sp>
      <p:sp>
        <p:nvSpPr>
          <p:cNvPr id="23" name="TextBox 22"/>
          <p:cNvSpPr txBox="1"/>
          <p:nvPr/>
        </p:nvSpPr>
        <p:spPr>
          <a:xfrm>
            <a:off x="6446520" y="5806440"/>
            <a:ext cx="4937760" cy="274320"/>
          </a:xfrm>
          <a:prstGeom prst="rect">
            <a:avLst/>
          </a:prstGeom>
          <a:noFill/>
        </p:spPr>
        <p:txBody>
          <a:bodyPr wrap="square" lIns="0" rIns="0" tIns="0" bIns="0" anchor="t">
            <a:spAutoFit/>
          </a:bodyPr>
          <a:lstStyle/>
          <a:p>
            <a:pPr algn="l"/>
            <a:r>
              <a:rPr sz="1100" b="0" i="1">
                <a:solidFill>
                  <a:srgbClr val="5B6066"/>
                </a:solidFill>
                <a:latin typeface="Calibri"/>
              </a:rPr>
              <a:t>Proposed alignment · impact not yet measured</a:t>
            </a:r>
          </a:p>
        </p:txBody>
      </p:sp>
      <p:sp>
        <p:nvSpPr>
          <p:cNvPr id="24"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Orbyte capabilities: Alpha Red's Orbyte introduction deck (SDC participant resources).</a:t>
            </a:r>
          </a:p>
        </p:txBody>
      </p:sp>
      <p:sp>
        <p:nvSpPr>
          <p:cNvPr id="25"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12/14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1B7A50"/>
                </a:solidFill>
                <a:latin typeface="Calibri"/>
              </a:rPr>
              <a:t>13 · HONEST SCOPE</a:t>
            </a:r>
          </a:p>
        </p:txBody>
      </p:sp>
      <p:sp>
        <p:nvSpPr>
          <p:cNvPr id="3" name="Title"/>
          <p:cNvSpPr txBox="1"/>
          <p:nvPr/>
        </p:nvSpPr>
        <p:spPr>
          <a:xfrm>
            <a:off x="548640" y="658368"/>
            <a:ext cx="11064240" cy="685800"/>
          </a:xfrm>
          <a:prstGeom prst="rect">
            <a:avLst/>
          </a:prstGeom>
          <a:noFill/>
        </p:spPr>
        <p:txBody>
          <a:bodyPr wrap="square" lIns="0" rIns="0" tIns="0" bIns="0" anchor="t">
            <a:spAutoFit/>
          </a:bodyPr>
          <a:lstStyle/>
          <a:p>
            <a:pPr algn="l"/>
            <a:r>
              <a:rPr sz="3200" b="1" i="0">
                <a:solidFill>
                  <a:srgbClr val="14171C"/>
                </a:solidFill>
                <a:latin typeface="Cambria"/>
              </a:rPr>
              <a:t>What works today, what is simulated, what comes next</a:t>
            </a:r>
          </a:p>
        </p:txBody>
      </p:sp>
      <p:sp>
        <p:nvSpPr>
          <p:cNvPr id="4" name="Working now"/>
          <p:cNvSpPr/>
          <p:nvPr/>
        </p:nvSpPr>
        <p:spPr>
          <a:xfrm>
            <a:off x="548640" y="1463040"/>
            <a:ext cx="3520440" cy="4663440"/>
          </a:xfrm>
          <a:prstGeom prst="roundRect">
            <a:avLst>
              <a:gd name="adj" fmla="val 6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691640"/>
            <a:ext cx="3017520" cy="731520"/>
          </a:xfrm>
          <a:prstGeom prst="rect">
            <a:avLst/>
          </a:prstGeom>
          <a:noFill/>
        </p:spPr>
        <p:txBody>
          <a:bodyPr wrap="square" lIns="0" rIns="0" tIns="0" bIns="0" anchor="t">
            <a:spAutoFit/>
          </a:bodyPr>
          <a:lstStyle/>
          <a:p>
            <a:pPr algn="l"/>
            <a:r>
              <a:rPr sz="1900" b="1" i="0">
                <a:solidFill>
                  <a:srgbClr val="1B7A50"/>
                </a:solidFill>
                <a:latin typeface="Cambria"/>
              </a:rPr>
              <a:t>Working now</a:t>
            </a:r>
          </a:p>
        </p:txBody>
      </p:sp>
      <p:sp>
        <p:nvSpPr>
          <p:cNvPr id="6" name="TextBox 5"/>
          <p:cNvSpPr txBox="1"/>
          <p:nvPr/>
        </p:nvSpPr>
        <p:spPr>
          <a:xfrm>
            <a:off x="822959" y="2468880"/>
            <a:ext cx="3017520" cy="3566160"/>
          </a:xfrm>
          <a:prstGeom prst="rect">
            <a:avLst/>
          </a:prstGeom>
          <a:noFill/>
        </p:spPr>
        <p:txBody>
          <a:bodyPr wrap="square" lIns="0" rIns="0" tIns="0" bIns="0" anchor="t">
            <a:spAutoFit/>
          </a:bodyPr>
          <a:lstStyle/>
          <a:p>
            <a:pPr algn="l" marL="201168" indent="-201168">
              <a:spcAft>
                <a:spcPts val="800"/>
              </a:spcAft>
              <a:buChar char="•"/>
            </a:pPr>
            <a:r>
              <a:rPr sz="1400" b="0" i="0">
                <a:solidFill>
                  <a:srgbClr val="14171C"/>
                </a:solidFill>
                <a:latin typeface="Calibri"/>
              </a:rPr>
              <a:t>17 API operations, live on Replit</a:t>
            </a:r>
          </a:p>
          <a:p>
            <a:pPr algn="l" marL="201168" indent="-201168">
              <a:spcAft>
                <a:spcPts val="800"/>
              </a:spcAft>
              <a:buChar char="•"/>
            </a:pPr>
            <a:r>
              <a:rPr sz="1400" b="0" i="0">
                <a:solidFill>
                  <a:srgbClr val="14171C"/>
                </a:solidFill>
                <a:latin typeface="Calibri"/>
              </a:rPr>
              <a:t>OCR + AI extraction with manual fallback</a:t>
            </a:r>
          </a:p>
          <a:p>
            <a:pPr algn="l" marL="201168" indent="-201168">
              <a:spcAft>
                <a:spcPts val="800"/>
              </a:spcAft>
              <a:buChar char="•"/>
            </a:pPr>
            <a:r>
              <a:rPr sz="1400" b="0" i="0">
                <a:solidFill>
                  <a:srgbClr val="14171C"/>
                </a:solidFill>
                <a:latin typeface="Calibri"/>
              </a:rPr>
              <a:t>Bank CSV import, matching and Finance approval</a:t>
            </a:r>
          </a:p>
          <a:p>
            <a:pPr algn="l" marL="201168" indent="-201168">
              <a:spcAft>
                <a:spcPts val="800"/>
              </a:spcAft>
              <a:buChar char="•"/>
            </a:pPr>
            <a:r>
              <a:rPr sz="1400" b="0" i="0">
                <a:solidFill>
                  <a:srgbClr val="14171C"/>
                </a:solidFill>
                <a:latin typeface="Calibri"/>
              </a:rPr>
              <a:t>Partial payments, promises, duplicate protection</a:t>
            </a:r>
          </a:p>
          <a:p>
            <a:pPr algn="l" marL="201168" indent="-201168">
              <a:spcAft>
                <a:spcPts val="800"/>
              </a:spcAft>
              <a:buChar char="•"/>
            </a:pPr>
            <a:r>
              <a:rPr sz="1400" b="0" i="0">
                <a:solidFill>
                  <a:srgbClr val="14171C"/>
                </a:solidFill>
                <a:latin typeface="Calibri"/>
              </a:rPr>
              <a:t>30-day cash scenarios</a:t>
            </a:r>
          </a:p>
          <a:p>
            <a:pPr algn="l" marL="201168" indent="-201168">
              <a:spcAft>
                <a:spcPts val="800"/>
              </a:spcAft>
              <a:buChar char="•"/>
            </a:pPr>
            <a:r>
              <a:rPr sz="1400" b="0" i="0">
                <a:solidFill>
                  <a:srgbClr val="14171C"/>
                </a:solidFill>
                <a:latin typeface="Calibri"/>
              </a:rPr>
              <a:t>Activity log and role checks</a:t>
            </a:r>
          </a:p>
          <a:p>
            <a:pPr algn="l" marL="201168" indent="-201168">
              <a:spcAft>
                <a:spcPts val="800"/>
              </a:spcAft>
              <a:buChar char="•"/>
            </a:pPr>
            <a:r>
              <a:rPr sz="1400" b="0" i="0">
                <a:solidFill>
                  <a:srgbClr val="14171C"/>
                </a:solidFill>
                <a:latin typeface="Calibri"/>
              </a:rPr>
              <a:t>Mobile layout, EN / 中文 / BM, light and dark</a:t>
            </a:r>
          </a:p>
        </p:txBody>
      </p:sp>
      <p:sp>
        <p:nvSpPr>
          <p:cNvPr id="7" name="Simulated in the prototype"/>
          <p:cNvSpPr/>
          <p:nvPr/>
        </p:nvSpPr>
        <p:spPr>
          <a:xfrm>
            <a:off x="4297679" y="1463040"/>
            <a:ext cx="3520440" cy="4663440"/>
          </a:xfrm>
          <a:prstGeom prst="roundRect">
            <a:avLst>
              <a:gd name="adj" fmla="val 6000"/>
            </a:avLst>
          </a:prstGeom>
          <a:solidFill>
            <a:srgbClr val="FB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1999" y="1691640"/>
            <a:ext cx="3017520" cy="731520"/>
          </a:xfrm>
          <a:prstGeom prst="rect">
            <a:avLst/>
          </a:prstGeom>
          <a:noFill/>
        </p:spPr>
        <p:txBody>
          <a:bodyPr wrap="square" lIns="0" rIns="0" tIns="0" bIns="0" anchor="t">
            <a:spAutoFit/>
          </a:bodyPr>
          <a:lstStyle/>
          <a:p>
            <a:pPr algn="l"/>
            <a:r>
              <a:rPr sz="1900" b="1" i="0">
                <a:solidFill>
                  <a:srgbClr val="B85C14"/>
                </a:solidFill>
                <a:latin typeface="Cambria"/>
              </a:rPr>
              <a:t>Simulated in the prototype</a:t>
            </a:r>
          </a:p>
        </p:txBody>
      </p:sp>
      <p:sp>
        <p:nvSpPr>
          <p:cNvPr id="9" name="TextBox 8"/>
          <p:cNvSpPr txBox="1"/>
          <p:nvPr/>
        </p:nvSpPr>
        <p:spPr>
          <a:xfrm>
            <a:off x="4571999" y="2468880"/>
            <a:ext cx="3017520" cy="3566160"/>
          </a:xfrm>
          <a:prstGeom prst="rect">
            <a:avLst/>
          </a:prstGeom>
          <a:noFill/>
        </p:spPr>
        <p:txBody>
          <a:bodyPr wrap="square" lIns="0" rIns="0" tIns="0" bIns="0" anchor="t">
            <a:spAutoFit/>
          </a:bodyPr>
          <a:lstStyle/>
          <a:p>
            <a:pPr algn="l" marL="201168" indent="-201168">
              <a:spcAft>
                <a:spcPts val="800"/>
              </a:spcAft>
              <a:buChar char="•"/>
            </a:pPr>
            <a:r>
              <a:rPr sz="1400" b="0" i="0">
                <a:solidFill>
                  <a:srgbClr val="14171C"/>
                </a:solidFill>
                <a:latin typeface="Calibri"/>
              </a:rPr>
              <a:t>All business, receipt and bank data are synthetic</a:t>
            </a:r>
          </a:p>
          <a:p>
            <a:pPr algn="l" marL="201168" indent="-201168">
              <a:spcAft>
                <a:spcPts val="800"/>
              </a:spcAft>
              <a:buChar char="•"/>
            </a:pPr>
            <a:r>
              <a:rPr sz="1400" b="0" i="0">
                <a:solidFill>
                  <a:srgbClr val="14171C"/>
                </a:solidFill>
                <a:latin typeface="Calibri"/>
              </a:rPr>
              <a:t>Reminder sending is simulated</a:t>
            </a:r>
          </a:p>
          <a:p>
            <a:pPr algn="l" marL="201168" indent="-201168">
              <a:spcAft>
                <a:spcPts val="800"/>
              </a:spcAft>
              <a:buChar char="•"/>
            </a:pPr>
            <a:r>
              <a:rPr sz="1400" b="0" i="0">
                <a:solidFill>
                  <a:srgbClr val="14171C"/>
                </a:solidFill>
                <a:latin typeface="Calibri"/>
              </a:rPr>
              <a:t>No live bank, WhatsApp, MyInvois or Orbyte link</a:t>
            </a:r>
          </a:p>
          <a:p>
            <a:pPr algn="l" marL="201168" indent="-201168">
              <a:spcAft>
                <a:spcPts val="800"/>
              </a:spcAft>
              <a:buChar char="•"/>
            </a:pPr>
            <a:r>
              <a:rPr sz="1400" b="0" i="0">
                <a:solidFill>
                  <a:srgbClr val="14171C"/>
                </a:solidFill>
                <a:latin typeface="Calibri"/>
              </a:rPr>
              <a:t>Demo roles, not production login</a:t>
            </a:r>
          </a:p>
          <a:p>
            <a:pPr algn="l" marL="201168" indent="-201168">
              <a:spcAft>
                <a:spcPts val="800"/>
              </a:spcAft>
              <a:buChar char="•"/>
            </a:pPr>
            <a:r>
              <a:rPr sz="1400" b="0" i="0">
                <a:solidFill>
                  <a:srgbClr val="14171C"/>
                </a:solidFill>
                <a:latin typeface="Calibri"/>
              </a:rPr>
              <a:t>Redeploying resets the demo data</a:t>
            </a:r>
          </a:p>
        </p:txBody>
      </p:sp>
      <p:sp>
        <p:nvSpPr>
          <p:cNvPr id="10" name="Next: how we will measure success"/>
          <p:cNvSpPr/>
          <p:nvPr/>
        </p:nvSpPr>
        <p:spPr>
          <a:xfrm>
            <a:off x="8046719" y="1463040"/>
            <a:ext cx="3520440" cy="4663440"/>
          </a:xfrm>
          <a:prstGeom prst="roundRect">
            <a:avLst>
              <a:gd name="adj" fmla="val 6000"/>
            </a:avLst>
          </a:prstGeom>
          <a:solidFill>
            <a:srgbClr val="F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91640"/>
            <a:ext cx="3017520" cy="731520"/>
          </a:xfrm>
          <a:prstGeom prst="rect">
            <a:avLst/>
          </a:prstGeom>
          <a:noFill/>
        </p:spPr>
        <p:txBody>
          <a:bodyPr wrap="square" lIns="0" rIns="0" tIns="0" bIns="0" anchor="t">
            <a:spAutoFit/>
          </a:bodyPr>
          <a:lstStyle/>
          <a:p>
            <a:pPr algn="l"/>
            <a:r>
              <a:rPr sz="1900" b="1" i="0">
                <a:solidFill>
                  <a:srgbClr val="14171C"/>
                </a:solidFill>
                <a:latin typeface="Cambria"/>
              </a:rPr>
              <a:t>Next: how we will measure success</a:t>
            </a:r>
          </a:p>
        </p:txBody>
      </p:sp>
      <p:sp>
        <p:nvSpPr>
          <p:cNvPr id="12" name="TextBox 11"/>
          <p:cNvSpPr txBox="1"/>
          <p:nvPr/>
        </p:nvSpPr>
        <p:spPr>
          <a:xfrm>
            <a:off x="8321040" y="2468880"/>
            <a:ext cx="3017520" cy="3566160"/>
          </a:xfrm>
          <a:prstGeom prst="rect">
            <a:avLst/>
          </a:prstGeom>
          <a:noFill/>
        </p:spPr>
        <p:txBody>
          <a:bodyPr wrap="square" lIns="0" rIns="0" tIns="0" bIns="0" anchor="t">
            <a:spAutoFit/>
          </a:bodyPr>
          <a:lstStyle/>
          <a:p>
            <a:pPr algn="l" marL="201168" indent="-201168">
              <a:spcAft>
                <a:spcPts val="800"/>
              </a:spcAft>
              <a:buChar char="•"/>
            </a:pPr>
            <a:r>
              <a:rPr sz="1400" b="0" i="0">
                <a:solidFill>
                  <a:srgbClr val="14171C"/>
                </a:solidFill>
                <a:latin typeface="Calibri"/>
              </a:rPr>
              <a:t>Pilot with a consenting studio</a:t>
            </a:r>
          </a:p>
          <a:p>
            <a:pPr algn="l" marL="201168" indent="-201168">
              <a:spcAft>
                <a:spcPts val="800"/>
              </a:spcAft>
              <a:buChar char="•"/>
            </a:pPr>
            <a:r>
              <a:rPr sz="1400" b="0" i="0">
                <a:solidFill>
                  <a:srgbClr val="14171C"/>
                </a:solidFill>
                <a:latin typeface="Calibri"/>
              </a:rPr>
              <a:t>Minutes per payment check: manual vs tool, same evidence</a:t>
            </a:r>
          </a:p>
          <a:p>
            <a:pPr algn="l" marL="201168" indent="-201168">
              <a:spcAft>
                <a:spcPts val="800"/>
              </a:spcAft>
              <a:buChar char="•"/>
            </a:pPr>
            <a:r>
              <a:rPr sz="1400" b="0" i="0">
                <a:solidFill>
                  <a:srgbClr val="14171C"/>
                </a:solidFill>
                <a:latin typeface="Calibri"/>
              </a:rPr>
              <a:t>% of payment claims checked against the bank before recording</a:t>
            </a:r>
          </a:p>
          <a:p>
            <a:pPr algn="l" marL="201168" indent="-201168">
              <a:spcAft>
                <a:spcPts val="800"/>
              </a:spcAft>
              <a:buChar char="•"/>
            </a:pPr>
            <a:r>
              <a:rPr sz="1400" b="0" i="0">
                <a:solidFill>
                  <a:srgbClr val="14171C"/>
                </a:solidFill>
                <a:latin typeface="Calibri"/>
              </a:rPr>
              <a:t>Reference accuracy ≥95% on a held-out set (now 87.5%)</a:t>
            </a:r>
          </a:p>
        </p:txBody>
      </p:sp>
      <p:sp>
        <p:nvSpPr>
          <p:cNvPr id="13" name="Source"/>
          <p:cNvSpPr txBox="1"/>
          <p:nvPr/>
        </p:nvSpPr>
        <p:spPr>
          <a:xfrm>
            <a:off x="548640" y="6428232"/>
            <a:ext cx="9326880" cy="274320"/>
          </a:xfrm>
          <a:prstGeom prst="rect">
            <a:avLst/>
          </a:prstGeom>
          <a:noFill/>
        </p:spPr>
        <p:txBody>
          <a:bodyPr wrap="square" lIns="0" rIns="0" tIns="0" bIns="0" anchor="t">
            <a:spAutoFit/>
          </a:bodyPr>
          <a:lstStyle/>
          <a:p>
            <a:pPr algn="l"/>
            <a:r>
              <a:rPr sz="1000" b="0" i="0">
                <a:solidFill>
                  <a:srgbClr val="5B6066"/>
                </a:solidFill>
                <a:latin typeface="Calibri"/>
              </a:rPr>
              <a:t>A working prototype, not a production system. Phase 2 items are proposals, not results.</a:t>
            </a:r>
          </a:p>
        </p:txBody>
      </p:sp>
      <p:sp>
        <p:nvSpPr>
          <p:cNvPr id="14" name="Page"/>
          <p:cNvSpPr txBox="1"/>
          <p:nvPr/>
        </p:nvSpPr>
        <p:spPr>
          <a:xfrm>
            <a:off x="9966960" y="6428232"/>
            <a:ext cx="1673352" cy="274320"/>
          </a:xfrm>
          <a:prstGeom prst="rect">
            <a:avLst/>
          </a:prstGeom>
          <a:noFill/>
        </p:spPr>
        <p:txBody>
          <a:bodyPr wrap="square" lIns="0" rIns="0" tIns="0" bIns="0" anchor="t">
            <a:spAutoFit/>
          </a:bodyPr>
          <a:lstStyle/>
          <a:p>
            <a:pPr algn="r"/>
            <a:r>
              <a:rPr sz="1000" b="0" i="0">
                <a:solidFill>
                  <a:srgbClr val="5B6066"/>
                </a:solidFill>
                <a:latin typeface="Calibri"/>
              </a:rPr>
              <a:t>Milestone2Cash  ·  13/14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 y="1143000"/>
            <a:ext cx="10607040" cy="822960"/>
          </a:xfrm>
          <a:prstGeom prst="rect">
            <a:avLst/>
          </a:prstGeom>
          <a:noFill/>
        </p:spPr>
        <p:txBody>
          <a:bodyPr wrap="square" lIns="0" rIns="0" tIns="0" bIns="0" anchor="t">
            <a:spAutoFit/>
          </a:bodyPr>
          <a:lstStyle/>
          <a:p>
            <a:pPr algn="l"/>
            <a:r>
              <a:rPr sz="4800" b="1" i="0">
                <a:solidFill>
                  <a:srgbClr val="FFFFFF"/>
                </a:solidFill>
                <a:latin typeface="Cambria"/>
              </a:rPr>
              <a:t>A screenshot is a claim.</a:t>
            </a:r>
          </a:p>
        </p:txBody>
      </p:sp>
      <p:sp>
        <p:nvSpPr>
          <p:cNvPr id="3" name="TextBox 2"/>
          <p:cNvSpPr txBox="1"/>
          <p:nvPr/>
        </p:nvSpPr>
        <p:spPr>
          <a:xfrm>
            <a:off x="822960" y="2057400"/>
            <a:ext cx="10241280" cy="1280160"/>
          </a:xfrm>
          <a:prstGeom prst="rect">
            <a:avLst/>
          </a:prstGeom>
          <a:noFill/>
        </p:spPr>
        <p:txBody>
          <a:bodyPr wrap="square" lIns="0" rIns="0" tIns="0" bIns="0" anchor="t">
            <a:spAutoFit/>
          </a:bodyPr>
          <a:lstStyle/>
          <a:p>
            <a:pPr algn="l"/>
            <a:r>
              <a:rPr sz="2800" b="0" i="0">
                <a:solidFill>
                  <a:srgbClr val="8FD6B0"/>
                </a:solidFill>
                <a:latin typeface="Cambria"/>
              </a:rPr>
              <a:t>Milestone2Cash turns it into a verified payment, and keeps what is still due in sight.</a:t>
            </a:r>
          </a:p>
        </p:txBody>
      </p:sp>
      <p:cxnSp>
        <p:nvCxnSpPr>
          <p:cNvPr id="4" name="Connector 3"/>
          <p:cNvCxnSpPr/>
          <p:nvPr/>
        </p:nvCxnSpPr>
        <p:spPr>
          <a:xfrm>
            <a:off x="822960" y="3657600"/>
            <a:ext cx="10515600" cy="0"/>
          </a:xfrm>
          <a:prstGeom prst="line">
            <a:avLst/>
          </a:prstGeom>
          <a:ln w="12700">
            <a:solidFill>
              <a:srgbClr val="3A3F4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3931920"/>
            <a:ext cx="6400800" cy="1097280"/>
          </a:xfrm>
          <a:prstGeom prst="rect">
            <a:avLst/>
          </a:prstGeom>
          <a:noFill/>
        </p:spPr>
        <p:txBody>
          <a:bodyPr wrap="square" lIns="0" rIns="0" tIns="0" bIns="0" anchor="t">
            <a:spAutoFit/>
          </a:bodyPr>
          <a:lstStyle/>
          <a:p>
            <a:pPr algn="l">
              <a:spcAft>
                <a:spcPts val="800"/>
              </a:spcAft>
            </a:pPr>
            <a:r>
              <a:rPr sz="1800" b="1" i="0">
                <a:solidFill>
                  <a:srgbClr val="FFFFFF"/>
                </a:solidFill>
                <a:latin typeface="Calibri"/>
              </a:rPr>
              <a:t>Live demo   </a:t>
            </a:r>
            <a:r>
              <a:rPr sz="1800" b="0" i="0">
                <a:solidFill>
                  <a:srgbClr val="C6CBD1"/>
                </a:solidFill>
                <a:latin typeface="Calibri"/>
              </a:rPr>
              <a:t>milestone-2-cash-proof-to-cash.replit.app</a:t>
            </a:r>
          </a:p>
          <a:p>
            <a:pPr algn="l">
              <a:spcAft>
                <a:spcPts val="800"/>
              </a:spcAft>
            </a:pPr>
            <a:r>
              <a:rPr sz="1800" b="1" i="0">
                <a:solidFill>
                  <a:srgbClr val="FFFFFF"/>
                </a:solidFill>
                <a:latin typeface="Calibri"/>
              </a:rPr>
              <a:t>Code   </a:t>
            </a:r>
            <a:r>
              <a:rPr sz="1800" b="0" i="0">
                <a:solidFill>
                  <a:srgbClr val="C6CBD1"/>
                </a:solidFill>
                <a:latin typeface="Calibri"/>
              </a:rPr>
              <a:t>github.com/jake2ace/SDC-Tracker</a:t>
            </a:r>
          </a:p>
          <a:p>
            <a:pPr algn="l">
              <a:spcAft>
                <a:spcPts val="800"/>
              </a:spcAft>
            </a:pPr>
            <a:r>
              <a:rPr sz="1800" b="1" i="0">
                <a:solidFill>
                  <a:srgbClr val="FFFFFF"/>
                </a:solidFill>
                <a:latin typeface="Calibri"/>
              </a:rPr>
              <a:t>Video (6:19)   </a:t>
            </a:r>
            <a:r>
              <a:rPr sz="1800" b="0" i="0">
                <a:solidFill>
                  <a:srgbClr val="C6CBD1"/>
                </a:solidFill>
                <a:latin typeface="Calibri"/>
              </a:rPr>
              <a:t>youtube.com/watch?v=pholjV_8vBM</a:t>
            </a:r>
          </a:p>
        </p:txBody>
      </p:sp>
      <p:sp>
        <p:nvSpPr>
          <p:cNvPr id="6" name="TextBox 5"/>
          <p:cNvSpPr txBox="1"/>
          <p:nvPr/>
        </p:nvSpPr>
        <p:spPr>
          <a:xfrm>
            <a:off x="822960" y="5120640"/>
            <a:ext cx="10515600" cy="914400"/>
          </a:xfrm>
          <a:prstGeom prst="rect">
            <a:avLst/>
          </a:prstGeom>
          <a:noFill/>
        </p:spPr>
        <p:txBody>
          <a:bodyPr wrap="square" lIns="0" rIns="0" tIns="0" bIns="0" anchor="t">
            <a:spAutoFit/>
          </a:bodyPr>
          <a:lstStyle/>
          <a:p>
            <a:pPr algn="l">
              <a:spcAft>
                <a:spcPts val="300"/>
              </a:spcAft>
            </a:pPr>
            <a:r>
              <a:rPr sz="1600" b="1" i="0">
                <a:solidFill>
                  <a:srgbClr val="FFFFFF"/>
                </a:solidFill>
                <a:latin typeface="Calibri"/>
              </a:rPr>
              <a:t>Team Lets go</a:t>
            </a:r>
          </a:p>
          <a:p>
            <a:pPr algn="l">
              <a:spcAft>
                <a:spcPts val="300"/>
              </a:spcAft>
            </a:pPr>
            <a:r>
              <a:rPr sz="1400" b="0" i="0">
                <a:solidFill>
                  <a:srgbClr val="C6CBD1"/>
                </a:solidFill>
                <a:latin typeface="Calibri"/>
              </a:rPr>
              <a:t>Jiazhong Yang · Low Li Xin · Jieheng Li · Lingchen Wu  —  Monash University Malaysia · Universiti Malaya</a:t>
            </a:r>
          </a:p>
        </p:txBody>
      </p:sp>
      <p:sp>
        <p:nvSpPr>
          <p:cNvPr id="7" name="Rounded Rectangle 6"/>
          <p:cNvSpPr/>
          <p:nvPr/>
        </p:nvSpPr>
        <p:spPr>
          <a:xfrm>
            <a:off x="8412480" y="4069080"/>
            <a:ext cx="2971800" cy="292608"/>
          </a:xfrm>
          <a:prstGeom prst="roundRect">
            <a:avLst>
              <a:gd name="adj" fmla="val 50000"/>
            </a:avLst>
          </a:prstGeom>
          <a:solidFill>
            <a:srgbClr val="8FD6B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b="1">
                <a:solidFill>
                  <a:srgbClr val="14171C"/>
                </a:solidFill>
                <a:latin typeface="Calibri"/>
              </a:rPr>
              <a:t>AI READS · RULES CHECK · PEOPLE DECIDE</a:t>
            </a:r>
          </a:p>
        </p:txBody>
      </p:sp>
      <p:sp>
        <p:nvSpPr>
          <p:cNvPr id="8" name="Live prototype link">
            <a:hlinkClick r:id="rId3"/>
          </p:cNvPr>
          <p:cNvSpPr/>
          <p:nvPr/>
        </p:nvSpPr>
        <p:spPr>
          <a:xfrm>
            <a:off x="822960" y="3931920"/>
            <a:ext cx="6400800" cy="365760"/>
          </a:xfrm>
          <a:prstGeom prst="rect">
            <a:avLst/>
          </a:prstGeom>
          <a:solidFill>
            <a:srgbClr val="FFFFFF">
              <a:alpha val="0"/>
            </a:srgbClr>
          </a:solidFill>
          <a:ln>
            <a:noFill/>
          </a:ln>
        </p:spPr>
      </p:sp>
      <p:sp>
        <p:nvSpPr>
          <p:cNvPr id="9" name="Repository link">
            <a:hlinkClick r:id="rId4"/>
          </p:cNvPr>
          <p:cNvSpPr/>
          <p:nvPr/>
        </p:nvSpPr>
        <p:spPr>
          <a:xfrm>
            <a:off x="822960" y="4297680"/>
            <a:ext cx="6400800" cy="365760"/>
          </a:xfrm>
          <a:prstGeom prst="rect">
            <a:avLst/>
          </a:prstGeom>
          <a:solidFill>
            <a:srgbClr val="FFFFFF">
              <a:alpha val="0"/>
            </a:srgbClr>
          </a:solidFill>
          <a:ln>
            <a:noFill/>
          </a:ln>
        </p:spPr>
      </p:sp>
      <p:sp>
        <p:nvSpPr>
          <p:cNvPr id="10" name="Pitch video link">
            <a:hlinkClick r:id="rId5"/>
          </p:cNvPr>
          <p:cNvSpPr/>
          <p:nvPr/>
        </p:nvSpPr>
        <p:spPr>
          <a:xfrm>
            <a:off x="822960" y="4663440"/>
            <a:ext cx="6400800" cy="365760"/>
          </a:xfrm>
          <a:prstGeom prst="rect">
            <a:avLst/>
          </a:prstGeom>
          <a:solidFill>
            <a:srgbClr val="FFFFFF">
              <a:alpha val="0"/>
            </a:srgbClr>
          </a:solidFill>
          <a:ln>
            <a:no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